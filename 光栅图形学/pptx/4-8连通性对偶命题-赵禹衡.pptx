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6" y="3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lianduiduix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10/15/2026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ulianduiduix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10/15/2026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title"/>
          <p:cNvGrpSpPr/>
          <p:nvPr/>
        </p:nvGrpSpPr>
        <p:grpSpPr>
          <a:xfrm>
            <a:off x="3448050" y="1474470"/>
            <a:ext cx="5295900" cy="469392"/>
            <a:chOff x="3448050" y="1474470"/>
            <a:chExt cx="5295900" cy="469392"/>
          </a:xfrm>
        </p:grpSpPr>
        <p:sp>
          <p:nvSpPr>
            <p:cNvPr id="2" name="TextBox 2"/>
            <p:cNvSpPr txBox="1"/>
            <p:nvPr/>
          </p:nvSpPr>
          <p:spPr>
            <a:xfrm>
              <a:off x="3822192" y="147447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数字图像中的 4-8 连通性对偶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3448050" y="1863725"/>
              <a:ext cx="5295900" cy="41275"/>
            </a:xfrm>
            <a:custGeom>
              <a:avLst/>
              <a:gdLst/>
              <a:ahLst/>
              <a:cxnLst/>
              <a:rect l="l" t="t" r="r" b="b"/>
              <a:pathLst>
                <a:path w="5295900" h="41275">
                  <a:moveTo>
                    <a:pt x="0" y="41275"/>
                  </a:moveTo>
                  <a:cubicBezTo>
                    <a:pt x="1765300" y="3175"/>
                    <a:pt x="3530600" y="0"/>
                    <a:pt x="5295900" y="31750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</p:grpSp>
      <p:grpSp>
        <p:nvGrpSpPr>
          <p:cNvPr id="9" name="cover-hook"/>
          <p:cNvGrpSpPr/>
          <p:nvPr/>
        </p:nvGrpSpPr>
        <p:grpSpPr>
          <a:xfrm>
            <a:off x="1430823" y="2377440"/>
            <a:ext cx="9330355" cy="1828800"/>
            <a:chOff x="1430823" y="2377440"/>
            <a:chExt cx="9330355" cy="1828800"/>
          </a:xfrm>
        </p:grpSpPr>
        <p:sp>
          <p:nvSpPr>
            <p:cNvPr id="5" name="TextBox 5"/>
            <p:cNvSpPr txBox="1"/>
            <p:nvPr/>
          </p:nvSpPr>
          <p:spPr>
            <a:xfrm>
              <a:off x="1430823" y="2377440"/>
              <a:ext cx="933035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8-连通</a:t>
              </a:r>
              <a:r>
                <a:rPr lang="zh-CN" sz="48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区域的边界是 </a:t>
              </a:r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4-连通</a:t>
              </a:r>
              <a:r>
                <a:rPr lang="zh-CN" sz="48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30823" y="3272790"/>
              <a:ext cx="933035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4-连通</a:t>
              </a:r>
              <a:r>
                <a:rPr lang="zh-CN" sz="48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区域的边界是 </a:t>
              </a:r>
              <a:r>
                <a:rPr lang="zh-CN" sz="4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8-连通</a:t>
              </a:r>
              <a:r>
                <a:rPr lang="zh-CN" sz="48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的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211D9F4-F7AC-3E40-D3B5-EBF85ED7498D}"/>
              </a:ext>
            </a:extLst>
          </p:cNvPr>
          <p:cNvSpPr txBox="1"/>
          <p:nvPr/>
        </p:nvSpPr>
        <p:spPr>
          <a:xfrm>
            <a:off x="5223752" y="4853783"/>
            <a:ext cx="247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汇报人：赵禹衡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question"/>
          <p:cNvGrpSpPr/>
          <p:nvPr/>
        </p:nvGrpSpPr>
        <p:grpSpPr>
          <a:xfrm>
            <a:off x="838200" y="2247900"/>
            <a:ext cx="9140190" cy="2495550"/>
            <a:chOff x="838200" y="2247900"/>
            <a:chExt cx="9140190" cy="2495550"/>
          </a:xfrm>
        </p:grpSpPr>
        <p:sp>
          <p:nvSpPr>
            <p:cNvPr id="2" name="Rectangle 2"/>
            <p:cNvSpPr/>
            <p:nvPr/>
          </p:nvSpPr>
          <p:spPr>
            <a:xfrm>
              <a:off x="838200" y="2247900"/>
              <a:ext cx="57150" cy="2495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2301240"/>
              <a:ext cx="8844534" cy="2161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在二值图像中，像素邻接分为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4-邻接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（上下左右）和 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8-邻接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（上下左右再加对角），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采用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互补连通性约定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：前景为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4-连通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时，背景及边界取 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8-连通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前景为 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8-连通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时，背景及边界取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4-连通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；这里的"边界"指区域与背景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之间的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边界轮廓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，或背景中与前景区域相邻的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边界分量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，而不是简单地把前景中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所有挨着背景的像素都称为边界。因此在这一约定下，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8-连通区域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的边界是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4-连通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的，</a:t>
              </a:r>
              <a:br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4-连通区域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的边界是 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8-连通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的，即数字图像中的 4-8 连通性对偶命题。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3-title"/>
          <p:cNvGrpSpPr/>
          <p:nvPr/>
        </p:nvGrpSpPr>
        <p:grpSpPr>
          <a:xfrm>
            <a:off x="745998" y="726758"/>
            <a:ext cx="6349594" cy="616077"/>
            <a:chOff x="745998" y="726758"/>
            <a:chExt cx="634959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26758"/>
              <a:ext cx="63495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 问题复述 —— 概念解释：边界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62000" y="1196975"/>
              <a:ext cx="4572000" cy="41275"/>
            </a:xfrm>
            <a:custGeom>
              <a:avLst/>
              <a:gdLst/>
              <a:ahLst/>
              <a:cxnLst/>
              <a:rect l="l" t="t" r="r" b="b"/>
              <a:pathLst>
                <a:path w="4572000" h="41275">
                  <a:moveTo>
                    <a:pt x="0" y="41275"/>
                  </a:moveTo>
                  <a:cubicBezTo>
                    <a:pt x="1397000" y="3175"/>
                    <a:pt x="2921000" y="0"/>
                    <a:pt x="4572000" y="31750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</p:grpSp>
      <p:grpSp>
        <p:nvGrpSpPr>
          <p:cNvPr id="12" name="p03-understanding"/>
          <p:cNvGrpSpPr/>
          <p:nvPr/>
        </p:nvGrpSpPr>
        <p:grpSpPr>
          <a:xfrm>
            <a:off x="829056" y="1604962"/>
            <a:ext cx="2532888" cy="2915222"/>
            <a:chOff x="829056" y="1604962"/>
            <a:chExt cx="2532888" cy="2915222"/>
          </a:xfrm>
        </p:grpSpPr>
        <p:grpSp>
          <p:nvGrpSpPr>
            <p:cNvPr id="8" name="Group 8"/>
            <p:cNvGrpSpPr/>
            <p:nvPr/>
          </p:nvGrpSpPr>
          <p:grpSpPr>
            <a:xfrm>
              <a:off x="881062" y="1604962"/>
              <a:ext cx="257175" cy="257175"/>
              <a:chOff x="881062" y="1604962"/>
              <a:chExt cx="257175" cy="25717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881062" y="1604962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37148" y="37148"/>
                    </a:moveTo>
                    <a:lnTo>
                      <a:pt x="47149" y="47149"/>
                    </a:lnTo>
                    <a:moveTo>
                      <a:pt x="220027" y="37148"/>
                    </a:moveTo>
                    <a:lnTo>
                      <a:pt x="210026" y="47149"/>
                    </a:lnTo>
                  </a:path>
                </a:pathLst>
              </a:custGeom>
              <a:noFill/>
              <a:ln w="28575">
                <a:solidFill>
                  <a:srgbClr val="F0A50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32155" y="1662112"/>
                <a:ext cx="15499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4990" h="200025">
                    <a:moveTo>
                      <a:pt x="34633" y="128588"/>
                    </a:moveTo>
                    <a:cubicBezTo>
                      <a:pt x="10034" y="110138"/>
                      <a:pt x="0" y="78018"/>
                      <a:pt x="9724" y="48847"/>
                    </a:cubicBezTo>
                    <a:cubicBezTo>
                      <a:pt x="19447" y="19676"/>
                      <a:pt x="46746" y="0"/>
                      <a:pt x="77495" y="0"/>
                    </a:cubicBezTo>
                    <a:cubicBezTo>
                      <a:pt x="108244" y="0"/>
                      <a:pt x="135543" y="19676"/>
                      <a:pt x="145267" y="48847"/>
                    </a:cubicBezTo>
                    <a:cubicBezTo>
                      <a:pt x="154990" y="78018"/>
                      <a:pt x="144957" y="110138"/>
                      <a:pt x="120358" y="128588"/>
                    </a:cubicBezTo>
                    <a:cubicBezTo>
                      <a:pt x="109044" y="139786"/>
                      <a:pt x="103739" y="155703"/>
                      <a:pt x="106070" y="171450"/>
                    </a:cubicBezTo>
                    <a:cubicBezTo>
                      <a:pt x="106070" y="187232"/>
                      <a:pt x="93277" y="200025"/>
                      <a:pt x="77495" y="200025"/>
                    </a:cubicBezTo>
                    <a:cubicBezTo>
                      <a:pt x="61714" y="200025"/>
                      <a:pt x="48920" y="187232"/>
                      <a:pt x="48920" y="171450"/>
                    </a:cubicBezTo>
                    <a:cubicBezTo>
                      <a:pt x="51252" y="155703"/>
                      <a:pt x="45946" y="139786"/>
                      <a:pt x="34633" y="128588"/>
                    </a:cubicBezTo>
                  </a:path>
                </a:pathLst>
              </a:custGeom>
              <a:noFill/>
              <a:ln w="28575">
                <a:solidFill>
                  <a:srgbClr val="F0A50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76789" y="1804988"/>
                <a:ext cx="6572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9525">
                    <a:moveTo>
                      <a:pt x="0" y="0"/>
                    </a:moveTo>
                    <a:lnTo>
                      <a:pt x="65723" y="0"/>
                    </a:lnTo>
                  </a:path>
                </a:pathLst>
              </a:custGeom>
              <a:noFill/>
              <a:ln w="28575">
                <a:solidFill>
                  <a:srgbClr val="F0A500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324356" y="16344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自己的理解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2205990"/>
              <a:ext cx="2532888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将区域内像素按照 4、8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邻接扩展后，出去原区域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像素的部分。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3806190"/>
              <a:ext cx="25328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实例：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在图中边界表示为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橙色的部分。</a:t>
              </a:r>
            </a:p>
          </p:txBody>
        </p:sp>
      </p:grpSp>
      <p:grpSp>
        <p:nvGrpSpPr>
          <p:cNvPr id="17" name="p03-figure"/>
          <p:cNvGrpSpPr/>
          <p:nvPr/>
        </p:nvGrpSpPr>
        <p:grpSpPr>
          <a:xfrm>
            <a:off x="5042154" y="2472690"/>
            <a:ext cx="4659477" cy="2059186"/>
            <a:chOff x="5042154" y="2472690"/>
            <a:chExt cx="4659477" cy="2059186"/>
          </a:xfrm>
        </p:grpSpPr>
        <p:sp>
          <p:nvSpPr>
            <p:cNvPr id="14" name="TextBox 14"/>
            <p:cNvSpPr txBox="1"/>
            <p:nvPr/>
          </p:nvSpPr>
          <p:spPr>
            <a:xfrm>
              <a:off x="7239000" y="2472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橙色边界实例图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90868" y="284226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（待插入：file-20261015101856641.png）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42154" y="4347210"/>
              <a:ext cx="149720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图 </a:t>
              </a:r>
              <a:r>
                <a:rPr lang="en-US" alt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· 橙色为边界像素</a:t>
              </a:r>
            </a:p>
          </p:txBody>
        </p:sp>
      </p:grpSp>
      <p:grpSp>
        <p:nvGrpSpPr>
          <p:cNvPr id="21" name="p03-takeaway"/>
          <p:cNvGrpSpPr/>
          <p:nvPr/>
        </p:nvGrpSpPr>
        <p:grpSpPr>
          <a:xfrm>
            <a:off x="762000" y="4781550"/>
            <a:ext cx="10668000" cy="1200150"/>
            <a:chOff x="762000" y="4781550"/>
            <a:chExt cx="10668000" cy="1200150"/>
          </a:xfrm>
        </p:grpSpPr>
        <p:sp>
          <p:nvSpPr>
            <p:cNvPr id="18" name="Rectangle 18"/>
            <p:cNvSpPr/>
            <p:nvPr/>
          </p:nvSpPr>
          <p:spPr>
            <a:xfrm>
              <a:off x="762000" y="4781550"/>
              <a:ext cx="10668000" cy="1200150"/>
            </a:xfrm>
            <a:prstGeom prst="rect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" y="4781550"/>
              <a:ext cx="57150" cy="1200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9649" y="4991975"/>
              <a:ext cx="10363200" cy="7053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可以看出，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连通区域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的橙色边界是 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 连通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闭合的，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 连通区域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的橙色边界是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连通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闭合的</a:t>
              </a:r>
              <a:endParaRPr lang="en-US" altLang="zh-CN" dirty="0">
                <a:solidFill>
                  <a:schemeClr val="dk1"/>
                </a:solidFill>
              </a:endParaRPr>
            </a:p>
            <a:p>
              <a:pPr algn="l">
                <a:lnSpc>
                  <a:spcPts val="28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这就是我们需要证明的命题。</a:t>
              </a:r>
            </a:p>
          </p:txBody>
        </p:sp>
      </p:grpSp>
      <p:grpSp>
        <p:nvGrpSpPr>
          <p:cNvPr id="24" name="p03-footer"/>
          <p:cNvGrpSpPr/>
          <p:nvPr/>
        </p:nvGrpSpPr>
        <p:grpSpPr>
          <a:xfrm>
            <a:off x="755904" y="6442710"/>
            <a:ext cx="10680192" cy="234696"/>
            <a:chOff x="755904" y="6442710"/>
            <a:chExt cx="106801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755904" y="644271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数字图像中的 4-8 连通性对偶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827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B4BDD880-0E52-B68C-3960-4CE6E2BEC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094" y="1398347"/>
            <a:ext cx="5924550" cy="28203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title"/>
          <p:cNvGrpSpPr/>
          <p:nvPr/>
        </p:nvGrpSpPr>
        <p:grpSpPr>
          <a:xfrm>
            <a:off x="745998" y="726758"/>
            <a:ext cx="5565496" cy="616077"/>
            <a:chOff x="745998" y="726758"/>
            <a:chExt cx="556549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26758"/>
              <a:ext cx="55654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 证明 —— 抽象到 3×3 网格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62000" y="1196975"/>
              <a:ext cx="4953000" cy="41275"/>
            </a:xfrm>
            <a:custGeom>
              <a:avLst/>
              <a:gdLst/>
              <a:ahLst/>
              <a:cxnLst/>
              <a:rect l="l" t="t" r="r" b="b"/>
              <a:pathLst>
                <a:path w="4953000" h="41275">
                  <a:moveTo>
                    <a:pt x="0" y="41275"/>
                  </a:moveTo>
                  <a:cubicBezTo>
                    <a:pt x="1397000" y="3175"/>
                    <a:pt x="3048000" y="0"/>
                    <a:pt x="4953000" y="31750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</p:grpSp>
      <p:grpSp>
        <p:nvGrpSpPr>
          <p:cNvPr id="6" name="p04-principle"/>
          <p:cNvGrpSpPr/>
          <p:nvPr/>
        </p:nvGrpSpPr>
        <p:grpSpPr>
          <a:xfrm>
            <a:off x="752856" y="1672590"/>
            <a:ext cx="4352544" cy="1821011"/>
            <a:chOff x="752856" y="1672590"/>
            <a:chExt cx="4352544" cy="1821011"/>
          </a:xfrm>
        </p:grpSpPr>
        <p:sp>
          <p:nvSpPr>
            <p:cNvPr id="5" name="TextBox 5"/>
            <p:cNvSpPr txBox="1"/>
            <p:nvPr/>
          </p:nvSpPr>
          <p:spPr>
            <a:xfrm>
              <a:off x="752856" y="1672590"/>
              <a:ext cx="4352544" cy="18210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无论是 8-邻接还是 4-邻接，与一个像素</a:t>
              </a:r>
              <a:br>
                <a:rPr dirty="0"/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邻接的任意一个像素，只可能出现在以</a:t>
              </a:r>
              <a:br>
                <a:rPr dirty="0"/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该像素为中心的 3×3 网格中。</a:t>
              </a:r>
              <a:br>
                <a:rPr dirty="0"/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现使用一个 3×3 网格逐个扫描区域</a:t>
              </a:r>
              <a:br>
                <a:rPr dirty="0"/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中的每一个像素。</a:t>
              </a:r>
            </a:p>
          </p:txBody>
        </p:sp>
      </p:grpSp>
      <p:grpSp>
        <p:nvGrpSpPr>
          <p:cNvPr id="19" name="p04-legend"/>
          <p:cNvGrpSpPr/>
          <p:nvPr/>
        </p:nvGrpSpPr>
        <p:grpSpPr>
          <a:xfrm>
            <a:off x="749808" y="3627120"/>
            <a:ext cx="4355592" cy="2740914"/>
            <a:chOff x="749808" y="3627120"/>
            <a:chExt cx="4355592" cy="2740914"/>
          </a:xfrm>
        </p:grpSpPr>
        <p:sp>
          <p:nvSpPr>
            <p:cNvPr id="7" name="TextBox 7"/>
            <p:cNvSpPr txBox="1"/>
            <p:nvPr/>
          </p:nvSpPr>
          <p:spPr>
            <a:xfrm>
              <a:off x="749808" y="3627120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标记约定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" y="4152900"/>
              <a:ext cx="247650" cy="247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0056" y="41681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红色：区域内像素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4591050"/>
              <a:ext cx="24765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10056" y="4606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蓝色：背景像素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5029200"/>
              <a:ext cx="247650" cy="247650"/>
            </a:xfrm>
            <a:prstGeom prst="rect">
              <a:avLst/>
            </a:prstGeom>
            <a:solidFill>
              <a:srgbClr val="F0A50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10056" y="50444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黄色：边界像素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（与红色相邻的蓝色格子）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47725" y="5534025"/>
              <a:ext cx="228600" cy="228600"/>
            </a:xfrm>
            <a:prstGeom prst="ellipse">
              <a:avLst/>
            </a:pr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10056" y="55302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圆圈：可能出现的地方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57250" y="600075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7250" y="600075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0056" y="60159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叉：不可能出现的地方</a:t>
              </a:r>
            </a:p>
          </p:txBody>
        </p:sp>
      </p:grpSp>
      <p:grpSp>
        <p:nvGrpSpPr>
          <p:cNvPr id="35" name="p04-grid-demo"/>
          <p:cNvGrpSpPr/>
          <p:nvPr/>
        </p:nvGrpSpPr>
        <p:grpSpPr>
          <a:xfrm>
            <a:off x="6466580" y="2181225"/>
            <a:ext cx="4211841" cy="4090226"/>
            <a:chOff x="6466580" y="2181225"/>
            <a:chExt cx="4211841" cy="4090226"/>
          </a:xfrm>
        </p:grpSpPr>
        <p:sp>
          <p:nvSpPr>
            <p:cNvPr id="20" name="Rectangle 20"/>
            <p:cNvSpPr/>
            <p:nvPr/>
          </p:nvSpPr>
          <p:spPr>
            <a:xfrm>
              <a:off x="6905625" y="2238375"/>
              <a:ext cx="952500" cy="952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05625" y="4333875"/>
              <a:ext cx="952500" cy="952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01125" y="2238375"/>
              <a:ext cx="952500" cy="952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001125" y="4333875"/>
              <a:ext cx="952500" cy="952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953375" y="2238375"/>
              <a:ext cx="952500" cy="952500"/>
            </a:xfrm>
            <a:prstGeom prst="rect">
              <a:avLst/>
            </a:prstGeom>
            <a:solidFill>
              <a:srgbClr val="F0A50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953375" y="4333875"/>
              <a:ext cx="952500" cy="952500"/>
            </a:xfrm>
            <a:prstGeom prst="rect">
              <a:avLst/>
            </a:prstGeom>
            <a:solidFill>
              <a:srgbClr val="F0A50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05625" y="3286125"/>
              <a:ext cx="952500" cy="952500"/>
            </a:xfrm>
            <a:prstGeom prst="rect">
              <a:avLst/>
            </a:prstGeom>
            <a:solidFill>
              <a:srgbClr val="F0A50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001125" y="3286125"/>
              <a:ext cx="952500" cy="952500"/>
            </a:xfrm>
            <a:prstGeom prst="rect">
              <a:avLst/>
            </a:prstGeom>
            <a:solidFill>
              <a:srgbClr val="F0A50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53375" y="3286125"/>
              <a:ext cx="952500" cy="952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858000" y="2181225"/>
              <a:ext cx="3133725" cy="3162300"/>
            </a:xfrm>
            <a:custGeom>
              <a:avLst/>
              <a:gdLst/>
              <a:ahLst/>
              <a:cxnLst/>
              <a:rect l="l" t="t" r="r" b="b"/>
              <a:pathLst>
                <a:path w="3133725" h="3162300">
                  <a:moveTo>
                    <a:pt x="9525" y="19050"/>
                  </a:moveTo>
                  <a:cubicBezTo>
                    <a:pt x="1050925" y="0"/>
                    <a:pt x="2092325" y="3175"/>
                    <a:pt x="3133725" y="28575"/>
                  </a:cubicBezTo>
                  <a:moveTo>
                    <a:pt x="3124200" y="19050"/>
                  </a:moveTo>
                  <a:cubicBezTo>
                    <a:pt x="3105150" y="1060450"/>
                    <a:pt x="3105150" y="2101850"/>
                    <a:pt x="3124200" y="3143250"/>
                  </a:cubicBezTo>
                  <a:moveTo>
                    <a:pt x="3133725" y="3133725"/>
                  </a:moveTo>
                  <a:cubicBezTo>
                    <a:pt x="2092325" y="3159125"/>
                    <a:pt x="1050925" y="3162300"/>
                    <a:pt x="9525" y="3143250"/>
                  </a:cubicBezTo>
                  <a:moveTo>
                    <a:pt x="19050" y="3133725"/>
                  </a:moveTo>
                  <a:cubicBezTo>
                    <a:pt x="0" y="2098675"/>
                    <a:pt x="3175" y="1060450"/>
                    <a:pt x="28575" y="19050"/>
                  </a:cubicBezTo>
                  <a:moveTo>
                    <a:pt x="1047750" y="28575"/>
                  </a:moveTo>
                  <a:cubicBezTo>
                    <a:pt x="1054100" y="1069975"/>
                    <a:pt x="1050925" y="2101850"/>
                    <a:pt x="1038225" y="3124200"/>
                  </a:cubicBezTo>
                  <a:moveTo>
                    <a:pt x="2095500" y="28575"/>
                  </a:moveTo>
                  <a:cubicBezTo>
                    <a:pt x="2101850" y="1069975"/>
                    <a:pt x="2098675" y="2101850"/>
                    <a:pt x="2085975" y="3124200"/>
                  </a:cubicBezTo>
                  <a:moveTo>
                    <a:pt x="38100" y="1057275"/>
                  </a:moveTo>
                  <a:cubicBezTo>
                    <a:pt x="1066800" y="1063625"/>
                    <a:pt x="2089150" y="1063625"/>
                    <a:pt x="3105150" y="1057275"/>
                  </a:cubicBezTo>
                  <a:moveTo>
                    <a:pt x="38100" y="2105025"/>
                  </a:moveTo>
                  <a:cubicBezTo>
                    <a:pt x="1066800" y="2111375"/>
                    <a:pt x="2089150" y="2111375"/>
                    <a:pt x="3105150" y="2105025"/>
                  </a:cubicBezTo>
                </a:path>
              </a:pathLst>
            </a:custGeom>
            <a:noFill/>
            <a:ln w="23812" cap="rnd">
              <a:solidFill>
                <a:schemeClr val="accent1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162925" y="4543425"/>
              <a:ext cx="533400" cy="53340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200900" y="25336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0" y="0"/>
                  </a:moveTo>
                  <a:lnTo>
                    <a:pt x="361950" y="36195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200900" y="25336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50" y="0"/>
                  </a:moveTo>
                  <a:lnTo>
                    <a:pt x="0" y="36195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66580" y="5778818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示意：以红格为扫描中心；圆圈——可能出现的地方，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57002" y="600741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叉——不可能出现的地方。</a:t>
              </a:r>
            </a:p>
          </p:txBody>
        </p:sp>
      </p:grpSp>
      <p:grpSp>
        <p:nvGrpSpPr>
          <p:cNvPr id="38" name="p04-footer"/>
          <p:cNvGrpSpPr/>
          <p:nvPr/>
        </p:nvGrpSpPr>
        <p:grpSpPr>
          <a:xfrm>
            <a:off x="755904" y="6442710"/>
            <a:ext cx="10680192" cy="234696"/>
            <a:chOff x="755904" y="6442710"/>
            <a:chExt cx="106801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755904" y="644271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数字图像中的 4-8 连通性对偶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827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title"/>
          <p:cNvGrpSpPr/>
          <p:nvPr/>
        </p:nvGrpSpPr>
        <p:grpSpPr>
          <a:xfrm>
            <a:off x="745998" y="726758"/>
            <a:ext cx="3213202" cy="616077"/>
            <a:chOff x="745998" y="726758"/>
            <a:chExt cx="3213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26758"/>
              <a:ext cx="32132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 证明 —— 特例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62000" y="1196975"/>
              <a:ext cx="2762250" cy="41275"/>
            </a:xfrm>
            <a:custGeom>
              <a:avLst/>
              <a:gdLst/>
              <a:ahLst/>
              <a:cxnLst/>
              <a:rect l="l" t="t" r="r" b="b"/>
              <a:pathLst>
                <a:path w="2762250" h="41275">
                  <a:moveTo>
                    <a:pt x="0" y="41275"/>
                  </a:moveTo>
                  <a:cubicBezTo>
                    <a:pt x="762000" y="3175"/>
                    <a:pt x="1682750" y="0"/>
                    <a:pt x="2762250" y="31750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</p:grpSp>
      <p:grpSp>
        <p:nvGrpSpPr>
          <p:cNvPr id="17" name="p05-case8"/>
          <p:cNvGrpSpPr/>
          <p:nvPr/>
        </p:nvGrpSpPr>
        <p:grpSpPr>
          <a:xfrm>
            <a:off x="1483913" y="1722120"/>
            <a:ext cx="3699674" cy="3731514"/>
            <a:chOff x="1483913" y="1722120"/>
            <a:chExt cx="3699674" cy="3731514"/>
          </a:xfrm>
        </p:grpSpPr>
        <p:sp>
          <p:nvSpPr>
            <p:cNvPr id="5" name="TextBox 5"/>
            <p:cNvSpPr txBox="1"/>
            <p:nvPr/>
          </p:nvSpPr>
          <p:spPr>
            <a:xfrm>
              <a:off x="2399843" y="1722120"/>
              <a:ext cx="18678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前景 8-连通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2286000" y="2676525"/>
              <a:ext cx="628650" cy="628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543300" y="2676525"/>
              <a:ext cx="628650" cy="628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286000" y="3933825"/>
              <a:ext cx="628650" cy="628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543300" y="3933825"/>
              <a:ext cx="628650" cy="628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914650" y="267652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914650" y="393382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330517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543300" y="330517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914650" y="3305175"/>
              <a:ext cx="628650" cy="628650"/>
            </a:xfrm>
            <a:prstGeom prst="rect">
              <a:avLst/>
            </a:prstGeom>
            <a:solidFill>
              <a:srgbClr val="F0A500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238375" y="2628900"/>
              <a:ext cx="2066925" cy="1971675"/>
            </a:xfrm>
            <a:custGeom>
              <a:avLst/>
              <a:gdLst/>
              <a:ahLst/>
              <a:cxnLst/>
              <a:rect l="l" t="t" r="r" b="b"/>
              <a:pathLst>
                <a:path w="2066925" h="1971675">
                  <a:moveTo>
                    <a:pt x="19050" y="19050"/>
                  </a:moveTo>
                  <a:cubicBezTo>
                    <a:pt x="730250" y="0"/>
                    <a:pt x="1412875" y="3175"/>
                    <a:pt x="2066925" y="28575"/>
                  </a:cubicBezTo>
                  <a:moveTo>
                    <a:pt x="2057400" y="19050"/>
                  </a:moveTo>
                  <a:cubicBezTo>
                    <a:pt x="2038350" y="666750"/>
                    <a:pt x="2041525" y="1314450"/>
                    <a:pt x="2066925" y="1962150"/>
                  </a:cubicBezTo>
                  <a:moveTo>
                    <a:pt x="2057400" y="1952625"/>
                  </a:moveTo>
                  <a:cubicBezTo>
                    <a:pt x="1409700" y="1971675"/>
                    <a:pt x="730250" y="1971675"/>
                    <a:pt x="19050" y="1952625"/>
                  </a:cubicBezTo>
                  <a:moveTo>
                    <a:pt x="19050" y="1952625"/>
                  </a:moveTo>
                  <a:cubicBezTo>
                    <a:pt x="0" y="1311275"/>
                    <a:pt x="6350" y="669925"/>
                    <a:pt x="38100" y="28575"/>
                  </a:cubicBezTo>
                  <a:moveTo>
                    <a:pt x="666750" y="28575"/>
                  </a:moveTo>
                  <a:cubicBezTo>
                    <a:pt x="673100" y="669925"/>
                    <a:pt x="669925" y="1311275"/>
                    <a:pt x="657225" y="1952625"/>
                  </a:cubicBezTo>
                  <a:moveTo>
                    <a:pt x="1295400" y="28575"/>
                  </a:moveTo>
                  <a:cubicBezTo>
                    <a:pt x="1301750" y="669925"/>
                    <a:pt x="1301750" y="1311275"/>
                    <a:pt x="1295400" y="1952625"/>
                  </a:cubicBezTo>
                  <a:moveTo>
                    <a:pt x="38100" y="666750"/>
                  </a:moveTo>
                  <a:cubicBezTo>
                    <a:pt x="742950" y="673100"/>
                    <a:pt x="1416050" y="673100"/>
                    <a:pt x="2057400" y="666750"/>
                  </a:cubicBezTo>
                  <a:moveTo>
                    <a:pt x="38100" y="1295400"/>
                  </a:moveTo>
                  <a:cubicBezTo>
                    <a:pt x="742950" y="1301750"/>
                    <a:pt x="1416050" y="1301750"/>
                    <a:pt x="2057400" y="1295400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83913" y="5101590"/>
              <a:ext cx="3699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</a:t>
              </a:r>
              <a:r>
                <a:rPr lang="zh-CN" sz="1800" b="1" dirty="0">
                  <a:solidFill>
                    <a:srgbClr val="F0A500"/>
                  </a:solidFill>
                  <a:latin typeface="+mn-lt"/>
                  <a:ea typeface="+mn-ea"/>
                  <a:cs typeface="+mn-cs"/>
                </a:rPr>
                <a:t>黄色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像素被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个红色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像素围住</a:t>
              </a:r>
            </a:p>
          </p:txBody>
        </p:sp>
      </p:grpSp>
      <p:grpSp>
        <p:nvGrpSpPr>
          <p:cNvPr id="30" name="p05-case4"/>
          <p:cNvGrpSpPr/>
          <p:nvPr/>
        </p:nvGrpSpPr>
        <p:grpSpPr>
          <a:xfrm>
            <a:off x="6868476" y="1722120"/>
            <a:ext cx="3979549" cy="3731514"/>
            <a:chOff x="6868476" y="1722120"/>
            <a:chExt cx="3979549" cy="3731514"/>
          </a:xfrm>
        </p:grpSpPr>
        <p:sp>
          <p:nvSpPr>
            <p:cNvPr id="18" name="TextBox 18"/>
            <p:cNvSpPr txBox="1"/>
            <p:nvPr/>
          </p:nvSpPr>
          <p:spPr>
            <a:xfrm>
              <a:off x="7924343" y="1722120"/>
              <a:ext cx="18678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前景 4-连通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810500" y="267652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67800" y="267652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0" y="393382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67800" y="393382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439150" y="267652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439150" y="393382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0" y="330517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067800" y="3305175"/>
              <a:ext cx="6286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39150" y="3305175"/>
              <a:ext cx="628650" cy="628650"/>
            </a:xfrm>
            <a:prstGeom prst="rect">
              <a:avLst/>
            </a:prstGeom>
            <a:solidFill>
              <a:srgbClr val="F0A500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762875" y="2628900"/>
              <a:ext cx="2066925" cy="1971675"/>
            </a:xfrm>
            <a:custGeom>
              <a:avLst/>
              <a:gdLst/>
              <a:ahLst/>
              <a:cxnLst/>
              <a:rect l="l" t="t" r="r" b="b"/>
              <a:pathLst>
                <a:path w="2066925" h="1971675">
                  <a:moveTo>
                    <a:pt x="19050" y="19050"/>
                  </a:moveTo>
                  <a:cubicBezTo>
                    <a:pt x="730250" y="0"/>
                    <a:pt x="1412875" y="3175"/>
                    <a:pt x="2066925" y="28575"/>
                  </a:cubicBezTo>
                  <a:moveTo>
                    <a:pt x="2057400" y="19050"/>
                  </a:moveTo>
                  <a:cubicBezTo>
                    <a:pt x="2038350" y="666750"/>
                    <a:pt x="2041525" y="1314450"/>
                    <a:pt x="2066925" y="1962150"/>
                  </a:cubicBezTo>
                  <a:moveTo>
                    <a:pt x="2057400" y="1952625"/>
                  </a:moveTo>
                  <a:cubicBezTo>
                    <a:pt x="1409700" y="1971675"/>
                    <a:pt x="730250" y="1971675"/>
                    <a:pt x="19050" y="1952625"/>
                  </a:cubicBezTo>
                  <a:moveTo>
                    <a:pt x="19050" y="1952625"/>
                  </a:moveTo>
                  <a:cubicBezTo>
                    <a:pt x="0" y="1311275"/>
                    <a:pt x="6350" y="669925"/>
                    <a:pt x="38100" y="28575"/>
                  </a:cubicBezTo>
                  <a:moveTo>
                    <a:pt x="666750" y="28575"/>
                  </a:moveTo>
                  <a:cubicBezTo>
                    <a:pt x="673100" y="669925"/>
                    <a:pt x="669925" y="1311275"/>
                    <a:pt x="657225" y="1952625"/>
                  </a:cubicBezTo>
                  <a:moveTo>
                    <a:pt x="1295400" y="28575"/>
                  </a:moveTo>
                  <a:cubicBezTo>
                    <a:pt x="1301750" y="669925"/>
                    <a:pt x="1301750" y="1311275"/>
                    <a:pt x="1295400" y="1952625"/>
                  </a:cubicBezTo>
                  <a:moveTo>
                    <a:pt x="38100" y="666750"/>
                  </a:moveTo>
                  <a:cubicBezTo>
                    <a:pt x="742950" y="673100"/>
                    <a:pt x="1416050" y="673100"/>
                    <a:pt x="2057400" y="666750"/>
                  </a:cubicBezTo>
                  <a:moveTo>
                    <a:pt x="38100" y="1295400"/>
                  </a:moveTo>
                  <a:cubicBezTo>
                    <a:pt x="742950" y="1301750"/>
                    <a:pt x="1416050" y="1301750"/>
                    <a:pt x="2057400" y="1295400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68476" y="5101590"/>
              <a:ext cx="3979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</a:t>
              </a:r>
              <a:r>
                <a:rPr lang="zh-CN" sz="1800" b="1" dirty="0">
                  <a:solidFill>
                    <a:srgbClr val="F0A500"/>
                  </a:solidFill>
                  <a:latin typeface="+mn-lt"/>
                  <a:ea typeface="+mn-ea"/>
                  <a:cs typeface="+mn-cs"/>
                </a:rPr>
                <a:t>黄色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像素被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4/8 个红色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像素围住</a:t>
              </a:r>
            </a:p>
          </p:txBody>
        </p:sp>
      </p:grpSp>
      <p:grpSp>
        <p:nvGrpSpPr>
          <p:cNvPr id="33" name="p05-footer"/>
          <p:cNvGrpSpPr/>
          <p:nvPr/>
        </p:nvGrpSpPr>
        <p:grpSpPr>
          <a:xfrm>
            <a:off x="755904" y="6442710"/>
            <a:ext cx="10680192" cy="234696"/>
            <a:chOff x="755904" y="6442710"/>
            <a:chExt cx="106801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755904" y="644271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数字图像中的 4-8 连通性对偶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827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title"/>
          <p:cNvGrpSpPr/>
          <p:nvPr/>
        </p:nvGrpSpPr>
        <p:grpSpPr>
          <a:xfrm>
            <a:off x="745998" y="726758"/>
            <a:ext cx="4109314" cy="616077"/>
            <a:chOff x="745998" y="726758"/>
            <a:chExt cx="410931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26758"/>
              <a:ext cx="41093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 证明 —— 正式证明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62000" y="1196975"/>
              <a:ext cx="3810000" cy="41275"/>
            </a:xfrm>
            <a:custGeom>
              <a:avLst/>
              <a:gdLst/>
              <a:ahLst/>
              <a:cxnLst/>
              <a:rect l="l" t="t" r="r" b="b"/>
              <a:pathLst>
                <a:path w="3810000" h="41275">
                  <a:moveTo>
                    <a:pt x="0" y="41275"/>
                  </a:moveTo>
                  <a:cubicBezTo>
                    <a:pt x="1143000" y="3175"/>
                    <a:pt x="2413000" y="0"/>
                    <a:pt x="3810000" y="31750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</p:grpSp>
      <p:grpSp>
        <p:nvGrpSpPr>
          <p:cNvPr id="6" name="p06-approach"/>
          <p:cNvGrpSpPr/>
          <p:nvPr/>
        </p:nvGrpSpPr>
        <p:grpSpPr>
          <a:xfrm>
            <a:off x="752856" y="1786890"/>
            <a:ext cx="8668969" cy="352044"/>
            <a:chOff x="752856" y="1786890"/>
            <a:chExt cx="8668969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752856" y="1786890"/>
              <a:ext cx="86689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反证法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，假设某个边界像素不满足 4、8 连通，推出的情况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只存在于特例中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6" name="p06-steps"/>
          <p:cNvGrpSpPr/>
          <p:nvPr/>
        </p:nvGrpSpPr>
        <p:grpSpPr>
          <a:xfrm>
            <a:off x="762000" y="2552700"/>
            <a:ext cx="10572750" cy="1528001"/>
            <a:chOff x="762000" y="2552700"/>
            <a:chExt cx="10572750" cy="1528001"/>
          </a:xfrm>
        </p:grpSpPr>
        <p:sp>
          <p:nvSpPr>
            <p:cNvPr id="7" name="Freeform 7"/>
            <p:cNvSpPr/>
            <p:nvPr/>
          </p:nvSpPr>
          <p:spPr>
            <a:xfrm>
              <a:off x="762000" y="2552700"/>
              <a:ext cx="3143250" cy="1047750"/>
            </a:xfrm>
            <a:prstGeom prst="chevron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476750" y="2552700"/>
              <a:ext cx="3143250" cy="1047750"/>
            </a:xfrm>
            <a:prstGeom prst="chevron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191500" y="2552700"/>
              <a:ext cx="3143250" cy="1047750"/>
            </a:xfrm>
            <a:prstGeom prst="chevron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68424" y="29775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反证假设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25490" y="29775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40240" y="29775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1869" y="3816668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某个边界像素不满足 4、8 连通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41963" y="3816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这种情况只存在于特例中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93240" y="38166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于是将所有情况归纳到特例的情况</a:t>
              </a:r>
            </a:p>
          </p:txBody>
        </p:sp>
      </p:grpSp>
      <p:grpSp>
        <p:nvGrpSpPr>
          <p:cNvPr id="26" name="p06-next"/>
          <p:cNvGrpSpPr/>
          <p:nvPr/>
        </p:nvGrpSpPr>
        <p:grpSpPr>
          <a:xfrm>
            <a:off x="829469" y="4613754"/>
            <a:ext cx="9331420" cy="1139346"/>
            <a:chOff x="829469" y="4613754"/>
            <a:chExt cx="9331420" cy="1139346"/>
          </a:xfrm>
        </p:grpSpPr>
        <p:grpSp>
          <p:nvGrpSpPr>
            <p:cNvPr id="19" name="Group 19"/>
            <p:cNvGrpSpPr/>
            <p:nvPr/>
          </p:nvGrpSpPr>
          <p:grpSpPr>
            <a:xfrm>
              <a:off x="829469" y="4613754"/>
              <a:ext cx="188913" cy="241615"/>
              <a:chOff x="829469" y="4613754"/>
              <a:chExt cx="188913" cy="24161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29469" y="4613754"/>
                <a:ext cx="188913" cy="17287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72875">
                    <a:moveTo>
                      <a:pt x="0" y="25715"/>
                    </a:moveTo>
                    <a:cubicBezTo>
                      <a:pt x="26235" y="0"/>
                      <a:pt x="68222" y="0"/>
                      <a:pt x="94456" y="25715"/>
                    </a:cubicBezTo>
                    <a:cubicBezTo>
                      <a:pt x="120691" y="51431"/>
                      <a:pt x="162678" y="51431"/>
                      <a:pt x="188913" y="25715"/>
                    </a:cubicBezTo>
                    <a:lnTo>
                      <a:pt x="188913" y="147159"/>
                    </a:lnTo>
                    <a:cubicBezTo>
                      <a:pt x="162678" y="172875"/>
                      <a:pt x="120691" y="172875"/>
                      <a:pt x="94456" y="147159"/>
                    </a:cubicBezTo>
                    <a:cubicBezTo>
                      <a:pt x="68222" y="121444"/>
                      <a:pt x="26235" y="121444"/>
                      <a:pt x="0" y="147159"/>
                    </a:cubicBezTo>
                    <a:lnTo>
                      <a:pt x="0" y="25715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9469" y="4760913"/>
                <a:ext cx="952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4456">
                    <a:moveTo>
                      <a:pt x="0" y="94456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10056" y="46253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接着分情况讨论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219200" y="5143500"/>
              <a:ext cx="2857500" cy="609600"/>
            </a:xfrm>
            <a:prstGeom prst="rect">
              <a:avLst/>
            </a:prstGeom>
            <a:solidFill>
              <a:srgbClr val="FDFCFA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74905" y="5349240"/>
              <a:ext cx="15460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前景 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8-连通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457700" y="5143500"/>
              <a:ext cx="2857500" cy="609600"/>
            </a:xfrm>
            <a:prstGeom prst="rect">
              <a:avLst/>
            </a:prstGeom>
            <a:solidFill>
              <a:srgbClr val="FDFCFA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13405" y="5349240"/>
              <a:ext cx="15460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前景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4-连通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84592" y="5397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两种情况逐格检查，见后两页</a:t>
              </a:r>
            </a:p>
          </p:txBody>
        </p:sp>
      </p:grpSp>
      <p:grpSp>
        <p:nvGrpSpPr>
          <p:cNvPr id="29" name="p06-footer"/>
          <p:cNvGrpSpPr/>
          <p:nvPr/>
        </p:nvGrpSpPr>
        <p:grpSpPr>
          <a:xfrm>
            <a:off x="755904" y="6442710"/>
            <a:ext cx="10680192" cy="234696"/>
            <a:chOff x="755904" y="6442710"/>
            <a:chExt cx="106801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755904" y="644271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数字图像中的 4-8 连通性对偶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827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title"/>
          <p:cNvGrpSpPr/>
          <p:nvPr/>
        </p:nvGrpSpPr>
        <p:grpSpPr>
          <a:xfrm>
            <a:off x="745998" y="726758"/>
            <a:ext cx="7424928" cy="616077"/>
            <a:chOff x="745998" y="726758"/>
            <a:chExt cx="742492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26758"/>
              <a:ext cx="74249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 证明 —— 前景 8-连通：分情况讨论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62000" y="1196975"/>
              <a:ext cx="6858000" cy="41275"/>
            </a:xfrm>
            <a:custGeom>
              <a:avLst/>
              <a:gdLst/>
              <a:ahLst/>
              <a:cxnLst/>
              <a:rect l="l" t="t" r="r" b="b"/>
              <a:pathLst>
                <a:path w="6858000" h="41275">
                  <a:moveTo>
                    <a:pt x="0" y="41275"/>
                  </a:moveTo>
                  <a:cubicBezTo>
                    <a:pt x="2032000" y="3175"/>
                    <a:pt x="4318000" y="0"/>
                    <a:pt x="6858000" y="31750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</p:grpSp>
      <p:grpSp>
        <p:nvGrpSpPr>
          <p:cNvPr id="10" name="p07-lead"/>
          <p:cNvGrpSpPr/>
          <p:nvPr/>
        </p:nvGrpSpPr>
        <p:grpSpPr>
          <a:xfrm>
            <a:off x="742950" y="1619250"/>
            <a:ext cx="1874672" cy="2842451"/>
            <a:chOff x="742950" y="1619250"/>
            <a:chExt cx="1874672" cy="2842451"/>
          </a:xfrm>
        </p:grpSpPr>
        <p:sp>
          <p:nvSpPr>
            <p:cNvPr id="5" name="Ellipse 5"/>
            <p:cNvSpPr/>
            <p:nvPr/>
          </p:nvSpPr>
          <p:spPr>
            <a:xfrm>
              <a:off x="742950" y="1619250"/>
              <a:ext cx="495300" cy="4953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98302" y="17354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9808" y="2522220"/>
              <a:ext cx="18678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前景 8-连通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30441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分情况讨论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142" y="3930968"/>
              <a:ext cx="1556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对照标记约定，逐格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检查每种情形。</a:t>
              </a:r>
            </a:p>
          </p:txBody>
        </p:sp>
      </p:grpSp>
      <p:grpSp>
        <p:nvGrpSpPr>
          <p:cNvPr id="16" name="p07-figure"/>
          <p:cNvGrpSpPr/>
          <p:nvPr/>
        </p:nvGrpSpPr>
        <p:grpSpPr>
          <a:xfrm>
            <a:off x="4445540" y="1428749"/>
            <a:ext cx="6624537" cy="4176124"/>
            <a:chOff x="4184904" y="1428750"/>
            <a:chExt cx="7054596" cy="4069982"/>
          </a:xfrm>
        </p:grpSpPr>
        <p:sp>
          <p:nvSpPr>
            <p:cNvPr id="11" name="Rectangle 11"/>
            <p:cNvSpPr/>
            <p:nvPr/>
          </p:nvSpPr>
          <p:spPr>
            <a:xfrm>
              <a:off x="4191000" y="1428750"/>
              <a:ext cx="7048500" cy="3714750"/>
            </a:xfrm>
            <a:prstGeom prst="rect">
              <a:avLst/>
            </a:prstGeom>
            <a:solidFill>
              <a:srgbClr val="FDFCFA"/>
            </a:solidFill>
            <a:ln w="19050">
              <a:solidFill>
                <a:schemeClr val="accent1"/>
              </a:solidFill>
              <a:prstDash val="lgDash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31052" y="28536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各情形分格提取出来的情况图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2589" y="3196590"/>
              <a:ext cx="32653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（前景 8-连通，图示各情况）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30061" y="3604260"/>
              <a:ext cx="3170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（待插入：file-20261015102703265.jpg）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84904" y="5318760"/>
              <a:ext cx="2113351" cy="1799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图 </a:t>
              </a:r>
              <a:r>
                <a:rPr lang="en-US" alt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· 前景 8-连通的分情况图</a:t>
              </a:r>
            </a:p>
          </p:txBody>
        </p:sp>
      </p:grpSp>
      <p:grpSp>
        <p:nvGrpSpPr>
          <p:cNvPr id="19" name="p07-footer"/>
          <p:cNvGrpSpPr/>
          <p:nvPr/>
        </p:nvGrpSpPr>
        <p:grpSpPr>
          <a:xfrm>
            <a:off x="755904" y="6442710"/>
            <a:ext cx="10680192" cy="234696"/>
            <a:chOff x="755904" y="6442710"/>
            <a:chExt cx="10680192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755904" y="644271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数字图像中的 4-8 连通性对偶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827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27961934-5D33-EB4D-0DC3-D299E54FE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695" y="1472897"/>
            <a:ext cx="6439950" cy="3723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title"/>
          <p:cNvGrpSpPr/>
          <p:nvPr/>
        </p:nvGrpSpPr>
        <p:grpSpPr>
          <a:xfrm>
            <a:off x="745998" y="726758"/>
            <a:ext cx="7872984" cy="616077"/>
            <a:chOff x="745998" y="726758"/>
            <a:chExt cx="787298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26758"/>
              <a:ext cx="78729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2. 证明 —— 前景 4-连通：只有一种情况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62000" y="1196975"/>
              <a:ext cx="7334250" cy="41275"/>
            </a:xfrm>
            <a:custGeom>
              <a:avLst/>
              <a:gdLst/>
              <a:ahLst/>
              <a:cxnLst/>
              <a:rect l="l" t="t" r="r" b="b"/>
              <a:pathLst>
                <a:path w="7334250" h="41275">
                  <a:moveTo>
                    <a:pt x="0" y="41275"/>
                  </a:moveTo>
                  <a:cubicBezTo>
                    <a:pt x="2032000" y="3175"/>
                    <a:pt x="4476750" y="0"/>
                    <a:pt x="7334250" y="31750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</p:grpSp>
      <p:grpSp>
        <p:nvGrpSpPr>
          <p:cNvPr id="9" name="p08-figure"/>
          <p:cNvGrpSpPr/>
          <p:nvPr/>
        </p:nvGrpSpPr>
        <p:grpSpPr>
          <a:xfrm>
            <a:off x="851153" y="1509807"/>
            <a:ext cx="6678055" cy="4527019"/>
            <a:chOff x="851154" y="1524000"/>
            <a:chExt cx="4959096" cy="4512826"/>
          </a:xfrm>
        </p:grpSpPr>
        <p:sp>
          <p:nvSpPr>
            <p:cNvPr id="5" name="Rectangle 5"/>
            <p:cNvSpPr/>
            <p:nvPr/>
          </p:nvSpPr>
          <p:spPr>
            <a:xfrm>
              <a:off x="857250" y="1524000"/>
              <a:ext cx="4953000" cy="4310792"/>
            </a:xfrm>
            <a:prstGeom prst="rect">
              <a:avLst/>
            </a:prstGeom>
            <a:solidFill>
              <a:srgbClr val="FDFCFA"/>
            </a:solidFill>
            <a:ln w="19050">
              <a:solidFill>
                <a:schemeClr val="accent1"/>
              </a:solidFill>
              <a:prstDash val="lgDash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718816" y="32346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唯一情况图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48561" y="3642360"/>
              <a:ext cx="3170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（待插入：file-20261015104925889.jpg）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1154" y="5852160"/>
              <a:ext cx="19845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图 </a:t>
              </a:r>
              <a:r>
                <a:rPr lang="en-US" alt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· 前景 4-连通的唯一情况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43C0732-9B4C-FBE6-51A1-7F158AAC9D18}"/>
              </a:ext>
            </a:extLst>
          </p:cNvPr>
          <p:cNvGrpSpPr/>
          <p:nvPr/>
        </p:nvGrpSpPr>
        <p:grpSpPr>
          <a:xfrm>
            <a:off x="8094345" y="1509807"/>
            <a:ext cx="3691890" cy="4499801"/>
            <a:chOff x="6248400" y="1524000"/>
            <a:chExt cx="3691890" cy="4499801"/>
          </a:xfrm>
        </p:grpSpPr>
        <p:grpSp>
          <p:nvGrpSpPr>
            <p:cNvPr id="13" name="p08-case"/>
            <p:cNvGrpSpPr/>
            <p:nvPr/>
          </p:nvGrpSpPr>
          <p:grpSpPr>
            <a:xfrm>
              <a:off x="6277356" y="1524000"/>
              <a:ext cx="3278650" cy="995934"/>
              <a:chOff x="6277356" y="1524000"/>
              <a:chExt cx="3278650" cy="995934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6343650" y="1524000"/>
                <a:ext cx="419100" cy="419100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474087" y="1624965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277356" y="2167890"/>
                <a:ext cx="327865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前景 </a:t>
                </a:r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4-连通</a:t>
                </a: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，只有一种情况。</a:t>
                </a:r>
              </a:p>
            </p:txBody>
          </p:sp>
        </p:grpSp>
        <p:grpSp>
          <p:nvGrpSpPr>
            <p:cNvPr id="20" name="p08-proved"/>
            <p:cNvGrpSpPr/>
            <p:nvPr/>
          </p:nvGrpSpPr>
          <p:grpSpPr>
            <a:xfrm>
              <a:off x="6376987" y="2834640"/>
              <a:ext cx="2062163" cy="933450"/>
              <a:chOff x="6376987" y="2834640"/>
              <a:chExt cx="2062163" cy="933450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6376987" y="2909887"/>
                <a:ext cx="314324" cy="314324"/>
                <a:chOff x="6376987" y="2909887"/>
                <a:chExt cx="314324" cy="314324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6376987" y="2909887"/>
                  <a:ext cx="314324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4" h="314324">
                      <a:moveTo>
                        <a:pt x="0" y="157162"/>
                      </a:moveTo>
                      <a:cubicBezTo>
                        <a:pt x="0" y="243961"/>
                        <a:pt x="70364" y="314324"/>
                        <a:pt x="157162" y="314324"/>
                      </a:cubicBezTo>
                      <a:cubicBezTo>
                        <a:pt x="243961" y="314324"/>
                        <a:pt x="314324" y="243961"/>
                        <a:pt x="314324" y="157162"/>
                      </a:cubicBezTo>
                      <a:cubicBezTo>
                        <a:pt x="314324" y="70364"/>
                        <a:pt x="243961" y="0"/>
                        <a:pt x="157162" y="0"/>
                      </a:cubicBezTo>
                      <a:cubicBezTo>
                        <a:pt x="70364" y="0"/>
                        <a:pt x="0" y="70364"/>
                        <a:pt x="0" y="157162"/>
                      </a:cubicBezTo>
                    </a:path>
                  </a:pathLst>
                </a:custGeom>
                <a:noFill/>
                <a:ln w="34925">
                  <a:solidFill>
                    <a:schemeClr val="accent2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6481762" y="3032125"/>
                  <a:ext cx="104775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69850">
                      <a:moveTo>
                        <a:pt x="0" y="34925"/>
                      </a:moveTo>
                      <a:lnTo>
                        <a:pt x="34925" y="69850"/>
                      </a:lnTo>
                      <a:lnTo>
                        <a:pt x="104775" y="0"/>
                      </a:lnTo>
                    </a:path>
                  </a:pathLst>
                </a:custGeom>
                <a:noFill/>
                <a:ln w="34925">
                  <a:solidFill>
                    <a:schemeClr val="accent2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6915150" y="2834640"/>
                <a:ext cx="1403604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证毕</a:t>
                </a: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6915150" y="3463925"/>
                <a:ext cx="1524000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41275">
                    <a:moveTo>
                      <a:pt x="0" y="41275"/>
                    </a:moveTo>
                    <a:cubicBezTo>
                      <a:pt x="469900" y="3175"/>
                      <a:pt x="977900" y="0"/>
                      <a:pt x="1524000" y="31750"/>
                    </a:cubicBezTo>
                  </a:path>
                </a:pathLst>
              </a:custGeom>
              <a:noFill/>
              <a:ln w="47625" cap="rnd">
                <a:solidFill>
                  <a:schemeClr val="accent2"/>
                </a:solidFill>
              </a:ln>
            </p:spPr>
          </p:sp>
        </p:grpSp>
        <p:grpSp>
          <p:nvGrpSpPr>
            <p:cNvPr id="24" name="p08-takeaway"/>
            <p:cNvGrpSpPr/>
            <p:nvPr/>
          </p:nvGrpSpPr>
          <p:grpSpPr>
            <a:xfrm>
              <a:off x="6248400" y="4629150"/>
              <a:ext cx="3691890" cy="1394651"/>
              <a:chOff x="6248400" y="4629150"/>
              <a:chExt cx="3691890" cy="139465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248400" y="4629150"/>
                <a:ext cx="11430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219200">
                    <a:moveTo>
                      <a:pt x="114300" y="0"/>
                    </a:moveTo>
                    <a:cubicBezTo>
                      <a:pt x="0" y="228600"/>
                      <a:pt x="0" y="990600"/>
                      <a:pt x="114300" y="1219200"/>
                    </a:cubicBezTo>
                  </a:path>
                </a:pathLst>
              </a:custGeom>
              <a:noFill/>
              <a:ln w="23812" cap="rnd">
                <a:solidFill>
                  <a:schemeClr val="accent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582156" y="4758690"/>
                <a:ext cx="3358134" cy="733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000"/>
                  </a:lnSpc>
                </a:pPr>
                <a:r>
                  <a:rPr lang="zh-CN" sz="18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8-连通</a:t>
                </a: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区域的边界是 </a:t>
                </a:r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4-连通</a:t>
                </a: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的；</a:t>
                </a:r>
                <a:br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4-连通</a:t>
                </a: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区域的边界是 </a:t>
                </a:r>
                <a:r>
                  <a:rPr lang="zh-CN" sz="18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8-连通</a:t>
                </a: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的。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84442" y="5759768"/>
                <a:ext cx="30396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—— 数字图像中的 4-8 连通性对偶命题</a:t>
                </a:r>
              </a:p>
            </p:txBody>
          </p:sp>
        </p:grpSp>
      </p:grpSp>
      <p:grpSp>
        <p:nvGrpSpPr>
          <p:cNvPr id="27" name="p08-footer"/>
          <p:cNvGrpSpPr/>
          <p:nvPr/>
        </p:nvGrpSpPr>
        <p:grpSpPr>
          <a:xfrm>
            <a:off x="755904" y="6442710"/>
            <a:ext cx="10680192" cy="234696"/>
            <a:chOff x="755904" y="6442710"/>
            <a:chExt cx="106801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755904" y="644271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数字图像中的 4-8 连通性对偶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827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68F5BB0B-DD92-D5BA-C047-24F086585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36" y="1546859"/>
            <a:ext cx="6506984" cy="4191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tulianduiduixing">
  <a:themeElements>
    <a:clrScheme name="tulianduiduixing">
      <a:dk1>
        <a:srgbClr val="26251F"/>
      </a:dk1>
      <a:lt1>
        <a:srgbClr val="FAF9F4"/>
      </a:lt1>
      <a:dk2>
        <a:srgbClr val="1F497D"/>
      </a:dk2>
      <a:lt2>
        <a:srgbClr val="FAF9F4"/>
      </a:lt2>
      <a:accent1>
        <a:srgbClr val="16150F"/>
      </a:accent1>
      <a:accent2>
        <a:srgbClr val="C13A2E"/>
      </a:accent2>
      <a:accent3>
        <a:srgbClr val="3B5BA5"/>
      </a:accent3>
      <a:accent4>
        <a:srgbClr val="16150F"/>
      </a:accent4>
      <a:accent5>
        <a:srgbClr val="F1EDE3"/>
      </a:accent5>
      <a:accent6>
        <a:srgbClr val="6E6A5E"/>
      </a:accent6>
      <a:hlink>
        <a:srgbClr val="C13A2E"/>
      </a:hlink>
      <a:folHlink>
        <a:srgbClr val="3B5BA5"/>
      </a:folHlink>
    </a:clrScheme>
    <a:fontScheme name="tulianduiduixing">
      <a:majorFont>
        <a:latin typeface="Georgia"/>
        <a:ea typeface="KaiTi"/>
        <a:cs typeface="Georgia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ulianduiduix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1175</Words>
  <Application>Microsoft Office PowerPoint</Application>
  <PresentationFormat>宽屏</PresentationFormat>
  <Paragraphs>71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华文仿宋</vt:lpstr>
      <vt:lpstr>Arial</vt:lpstr>
      <vt:lpstr>Georgia</vt:lpstr>
      <vt:lpstr>tulianduiduixing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禹衡 赵</cp:lastModifiedBy>
  <cp:revision>2</cp:revision>
  <dcterms:created xsi:type="dcterms:W3CDTF">2026-10-15T03:45:50Z</dcterms:created>
  <dcterms:modified xsi:type="dcterms:W3CDTF">2026-10-15T03:53:15Z</dcterms:modified>
  <cp:category/>
  <cp:contentStatus/>
  <dc:language>zh-CN</dc:language>
</cp:coreProperties>
</file>