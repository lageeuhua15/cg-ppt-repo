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73" r:id="rId8"/>
    <p:sldId id="272" r:id="rId9"/>
    <p:sldId id="261" r:id="rId10"/>
    <p:sldId id="270" r:id="rId11"/>
    <p:sldId id="271" r:id="rId12"/>
    <p:sldId id="262" r:id="rId13"/>
    <p:sldId id="263" r:id="rId14"/>
    <p:sldId id="264" r:id="rId15"/>
    <p:sldId id="265" r:id="rId16"/>
    <p:sldId id="266" r:id="rId17"/>
    <p:sldId id="274" r:id="rId18"/>
    <p:sldId id="267" r:id="rId19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B1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分享范围：有限非空前景区域，图像外围补背景，采用背景侧边界，并按背景连通分量分别讨论。全程使用同一边界定义。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这里把图像嵌入无限方格平面 Z²，有限图像可以在外围补背景。背景包括外部，也包括区域内部的孔洞。边界 B 属于背景 D，而不是第三类独立的二值标签。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配合橙色像素指示：这些位置原本都是背景。染成橙色仅用于展示，不改变集合归属。此图选择外背景中的 4-邻接边界，紫色块为 4-连通。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B₄/B₈ 的下标说明像素怎样选入边界，不能把它直接读成边界本身的连通性。这个单像素例子只帮助理解定义。单像素前景既 4-连通也 8-连通，不用于区分前景的两种类型。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每个数字都放在背景侧边界上，F 不参与边界路径。可以逐个指出 3 到 4、4 到 5 等拐角，验证没有斜跳。不能从一个例子直接推出一般结论。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每个数字都放在背景侧边界上，F 不参与边界路径。可以逐个指出 3 到 4、4 到 5 等拐角，验证没有斜跳。不能从一个例子直接推出一般结论。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每个数字都放在背景侧边界上，F 不参与边界路径。可以逐个指出 3 到 4、4 到 5 等拐角，验证没有斜跳。不能从一个例子直接推出一般结论。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互补邻接用于这一方格像素模型的拓扑一致性。不要把它说成所有数字拓扑模型中的唯一可能方案。下一页通过种子填充解释，而不把例子当作一般定理的证明。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左图的四个橙色像素构成 8-连通闭合数字轮廓，但不 4-连通。中图只改变允许的填充邻接，就能一步斜跳出去。右图是不同的边界像素集合，补入角格后形成 4-连通边界。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指左图】紫色A和C对角，白色B和D也对角。如果双方都用8邻接，两条连接都成立，画成线就会交叉。作为抽象图，这当然可以定义；但如果希望它们表示平面上互不穿透的前景与背景，就出现冲突了。【指右图】如果双方都用4邻接，两条对角连接都禁止。可是当我们把紫色角点分开，白色就有了通过中间的通道；如果封住这条白色通道，又会把紫色接上。因此，在保持前景和背景互补、界面不交叉也不留额外裂缝的平面解释里，不能两边都接通，也不能两边都禁止。应当只让一方跨角连接。这说明为什么要互补，而不是预先假设边界已经连通。
讲者备查：参考：T. Yung Kong, Can 3-D Digital Topology Be Based on Axiomatically Defined Digital Spaces?, 2001, p.1, https://tc18.org/openProblems/GoodPairs.pdf；DGtal, Digital topology and digital objects, 4- and 8-adjacencies in Z2, https://www.dgtal.org/doc/2.0/moduleDigitalTopology.html。 本页证明的是常规4/8邻接在平面分离模型下的选择理由，不宣称(4,4)、(8,8)作为图论规则不可定义，也不宣称所有图像在相同邻接下都会出问题。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既然角点只能让一方跨过去，就只剩两种对称选择。【指左图】如果前景用4邻接，不把对角前景直接接起来，那么背景就在这个位置接通，对应8邻接。【指右图】如果前景用8邻接，允许跨角连接，那么背景就在这里分开，对应4邻接。把前景和背景的角色交换，左右两种情况也交换。因此，这不是随意记忆的4配8，而是对同一个角点作相互补充的连接决定。
讲者备查：参考：T. Yung Kong, Can 3-D Digital Topology Be Based on Axiomatically Defined Digital Spaces?, 2001, p.1, https://tc18.org/openProblems/GoodPairs.pdf；DGtal, Digital topology and digital objects, 4- and 8-adjacencies in Z2, https://www.dgtal.org/doc/2.0/moduleDigitalTopology.html。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为什么只讨论四个格子就有普遍意义？任何复杂图形都是由这些局部交点组成的。除去旋转和颜色交换，前景占一格、两格共边、三格时，界面怎样经过交点并没有双方争夺对角连接的问题。只有两格对角交替时，需要在两种接续方式中选一种。上一页的互补规则，把所有这类交点统一处理，就消除了局部交叉歧义。但是我不能因此直接宣布任意连通边界都能分隔内外。完整的全局保证要用数字Jordan定理：满足数字简单闭曲线条件的轮廓，在互补邻接下将其补集分成内部和外部。这里把它作为已有定理引用，没有在课堂上重证这个拓扑定理。这样，局部理由和全局保证才对应起来。
讲者备查：参考：T. Yung Kong, Can 3-D Digital Topology Be Based on Axiomatically Defined Digital Spaces?, 2001, p.1, https://tc18.org/openProblems/GoodPairs.pdf；DGtal, Digital topology and digital objects, 4- and 8-adjacencies in Z2, https://www.dgtal.org/doc/2.0/moduleDigitalTopology.html。 数字简单闭曲线有精确的非自交、邻接及非退化条件。不能删去这些条件，也不能说任意4连通像素集都能挡住8方向填充。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到最初的问题：为什么前景和边界要采用互补连通性？因为4和8的区别恰好发生在对角交点。为了保持平面内外分离，必须把这个交点的通路分配给其中一方，而不能双方都穿过，也不能在不增加第三类缝隙的情况下把双方都分开。于是得到前景4配背景8，前景8配背景4。对应的封闭边界表示也采用互补的连通规则。最后保留三个准确性条件：第一，4连通本来就蕴含8连通，所以两者不是互斥分类；第二，一串连通像素不一定是封闭边界，不能仅凭连通就保证不漏；第三，有孔洞时内外边界分别讨论。至于某个明确定义的边界像素集合是否连通，是进一步的数学命题，不能和选择互补规则的理由混为一谈。我的分享就到这里。
讲者备查：参考：T. Yung Kong, Can 3-D Digital Topology Be Based on Axiomatically Defined Digital Spaces?, 2001, p.1, https://tc18.org/openProblems/GoodPairs.pdf；DGtal, Digital topology and digital objects, 4- and 8-adjacencies in Z2, https://www.dgtal.org/doc/2.0/moduleDigitalTopology.html。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4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8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9" Type="http://schemas.openxmlformats.org/officeDocument/2006/relationships/notesSlide" Target="../notesSlides/notesSlide10.xml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61.xml"/><Relationship Id="rId36" Type="http://schemas.openxmlformats.org/officeDocument/2006/relationships/tags" Target="../tags/tag60.xml"/><Relationship Id="rId35" Type="http://schemas.openxmlformats.org/officeDocument/2006/relationships/tags" Target="../tags/tag59.xml"/><Relationship Id="rId34" Type="http://schemas.openxmlformats.org/officeDocument/2006/relationships/tags" Target="../tags/tag58.xml"/><Relationship Id="rId33" Type="http://schemas.openxmlformats.org/officeDocument/2006/relationships/tags" Target="../tags/tag57.xml"/><Relationship Id="rId32" Type="http://schemas.openxmlformats.org/officeDocument/2006/relationships/tags" Target="../tags/tag56.xml"/><Relationship Id="rId31" Type="http://schemas.openxmlformats.org/officeDocument/2006/relationships/tags" Target="../tags/tag55.xml"/><Relationship Id="rId30" Type="http://schemas.openxmlformats.org/officeDocument/2006/relationships/tags" Target="../tags/tag54.xml"/><Relationship Id="rId3" Type="http://schemas.openxmlformats.org/officeDocument/2006/relationships/tags" Target="../tags/tag27.xml"/><Relationship Id="rId29" Type="http://schemas.openxmlformats.org/officeDocument/2006/relationships/tags" Target="../tags/tag53.xml"/><Relationship Id="rId28" Type="http://schemas.openxmlformats.org/officeDocument/2006/relationships/tags" Target="../tags/tag52.xml"/><Relationship Id="rId27" Type="http://schemas.openxmlformats.org/officeDocument/2006/relationships/tags" Target="../tags/tag51.xml"/><Relationship Id="rId26" Type="http://schemas.openxmlformats.org/officeDocument/2006/relationships/tags" Target="../tags/tag50.xml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8260" y="-14478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5391150" y="1619250"/>
            <a:ext cx="1409700" cy="14097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/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150" y="1619250"/>
            <a:ext cx="1409700" cy="1409700"/>
          </a:xfrm>
          <a:prstGeom prst="roundRect">
            <a:avLst>
              <a:gd name="adj" fmla="val 50000"/>
            </a:avLst>
          </a:prstGeom>
        </p:spPr>
      </p:pic>
      <p:sp>
        <p:nvSpPr>
          <p:cNvPr id="6" name="文本框 5"/>
          <p:cNvSpPr>
            <a:spLocks noGrp="1"/>
          </p:cNvSpPr>
          <p:nvPr/>
        </p:nvSpPr>
        <p:spPr>
          <a:xfrm>
            <a:off x="2000250" y="3257550"/>
            <a:ext cx="8201025" cy="1238250"/>
          </a:xfrm>
          <a:prstGeom prst="rect">
            <a:avLst/>
          </a:prstGeom>
        </p:spPr>
        <p:txBody>
          <a:bodyPr lIns="0" tIns="0" rIns="0" bIns="0"/>
          <a:lstStyle>
            <a:defPPr algn="ctr">
              <a:defRPr sz="3375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00000"/>
              </a:lnSpc>
              <a:buNone/>
              <a:defRPr sz="337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75" b="1" spc="15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4–8 连通性对偶</a:t>
            </a:r>
            <a:endParaRPr sz="4050" b="1" spc="15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buNone/>
              <a:defRPr sz="337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75" b="1" spc="15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定义、直观与轮廓论证</a:t>
            </a:r>
            <a:endParaRPr sz="4050" b="1" spc="15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3676650" y="4105275"/>
            <a:ext cx="48482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endParaRPr sz="1575" spc="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3952875" y="5019675"/>
            <a:ext cx="12668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endParaRPr sz="14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5610225" y="5019675"/>
            <a:ext cx="10858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endParaRPr sz="14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7086600" y="5019675"/>
            <a:ext cx="11620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endParaRPr sz="14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" name="矩形 10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10" name="任意多边形 109"/>
          <p:cNvSpPr>
            <a:spLocks noGrp="1"/>
          </p:cNvSpPr>
          <p:nvPr/>
        </p:nvSpPr>
        <p:spPr>
          <a:xfrm>
            <a:off x="381000" y="457200"/>
            <a:ext cx="3429000" cy="5943600"/>
          </a:xfrm>
          <a:custGeom>
            <a:avLst/>
            <a:gdLst/>
            <a:ahLst/>
            <a:cxnLst/>
            <a:pathLst>
              <a:path w="360" h="624">
                <a:moveTo>
                  <a:pt x="12" y="0"/>
                </a:moveTo>
                <a:lnTo>
                  <a:pt x="360" y="0"/>
                </a:lnTo>
                <a:lnTo>
                  <a:pt x="360" y="0"/>
                </a:lnTo>
                <a:lnTo>
                  <a:pt x="360" y="624"/>
                </a:lnTo>
                <a:lnTo>
                  <a:pt x="360" y="624"/>
                </a:lnTo>
                <a:lnTo>
                  <a:pt x="12" y="624"/>
                </a:lnTo>
                <a:cubicBezTo>
                  <a:pt x="5" y="624"/>
                  <a:pt x="0" y="619"/>
                  <a:pt x="0" y="61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111" name="文本框 110"/>
          <p:cNvSpPr>
            <a:spLocks noGrp="1"/>
          </p:cNvSpPr>
          <p:nvPr/>
        </p:nvSpPr>
        <p:spPr>
          <a:xfrm>
            <a:off x="723900" y="876300"/>
            <a:ext cx="2743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文本框 111"/>
          <p:cNvSpPr>
            <a:spLocks noGrp="1"/>
          </p:cNvSpPr>
          <p:nvPr/>
        </p:nvSpPr>
        <p:spPr>
          <a:xfrm>
            <a:off x="723900" y="1457325"/>
            <a:ext cx="27432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 spc="375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  <a:endParaRPr sz="1275" spc="375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圆角矩形 112"/>
          <p:cNvSpPr>
            <a:spLocks noGrp="1"/>
          </p:cNvSpPr>
          <p:nvPr/>
        </p:nvSpPr>
        <p:spPr>
          <a:xfrm>
            <a:off x="723900" y="18859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</p:spPr>
        <p:txBody>
          <a:bodyPr/>
          <a:lstStyle/>
          <a:p/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723900" y="5372100"/>
            <a:ext cx="609600" cy="609600"/>
          </a:xfrm>
          <a:prstGeom prst="rect">
            <a:avLst/>
          </a:prstGeom>
          <a:ln w="254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lstStyle/>
          <a:p/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5372100"/>
            <a:ext cx="609600" cy="609600"/>
          </a:xfrm>
          <a:prstGeom prst="roundRect">
            <a:avLst>
              <a:gd name="adj" fmla="val 50000"/>
            </a:avLst>
          </a:prstGeom>
        </p:spPr>
      </p:pic>
      <p:sp>
        <p:nvSpPr>
          <p:cNvPr id="116" name="文本框 115"/>
          <p:cNvSpPr>
            <a:spLocks noGrp="1"/>
          </p:cNvSpPr>
          <p:nvPr/>
        </p:nvSpPr>
        <p:spPr>
          <a:xfrm>
            <a:off x="1466850" y="5495925"/>
            <a:ext cx="10001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文本框 116"/>
          <p:cNvSpPr>
            <a:spLocks noGrp="1"/>
          </p:cNvSpPr>
          <p:nvPr/>
        </p:nvSpPr>
        <p:spPr>
          <a:xfrm>
            <a:off x="1466850" y="5705475"/>
            <a:ext cx="10001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endParaRPr sz="975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任意多边形 117"/>
          <p:cNvSpPr>
            <a:spLocks noGrp="1"/>
          </p:cNvSpPr>
          <p:nvPr/>
        </p:nvSpPr>
        <p:spPr>
          <a:xfrm>
            <a:off x="3810000" y="457200"/>
            <a:ext cx="8001000" cy="5943600"/>
          </a:xfrm>
          <a:custGeom>
            <a:avLst/>
            <a:gdLst/>
            <a:ahLst/>
            <a:cxnLst/>
            <a:pathLst>
              <a:path w="840" h="624">
                <a:moveTo>
                  <a:pt x="0" y="0"/>
                </a:moveTo>
                <a:lnTo>
                  <a:pt x="828" y="0"/>
                </a:lnTo>
                <a:cubicBezTo>
                  <a:pt x="835" y="0"/>
                  <a:pt x="840" y="5"/>
                  <a:pt x="840" y="12"/>
                </a:cubicBezTo>
                <a:lnTo>
                  <a:pt x="840" y="612"/>
                </a:lnTo>
                <a:cubicBezTo>
                  <a:pt x="840" y="619"/>
                  <a:pt x="835" y="624"/>
                  <a:pt x="828" y="624"/>
                </a:cubicBezTo>
                <a:lnTo>
                  <a:pt x="0" y="624"/>
                </a:lnTo>
                <a:lnTo>
                  <a:pt x="0" y="62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/>
        </p:txBody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4343400" y="201930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20" name="文本框 119"/>
          <p:cNvSpPr>
            <a:spLocks noGrp="1"/>
          </p:cNvSpPr>
          <p:nvPr/>
        </p:nvSpPr>
        <p:spPr>
          <a:xfrm>
            <a:off x="4467225" y="2152650"/>
            <a:ext cx="285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文本框 120"/>
          <p:cNvSpPr>
            <a:spLocks noGrp="1"/>
          </p:cNvSpPr>
          <p:nvPr/>
        </p:nvSpPr>
        <p:spPr>
          <a:xfrm>
            <a:off x="5086350" y="2152650"/>
            <a:ext cx="6191250" cy="361950"/>
          </a:xfrm>
          <a:prstGeom prst="rect">
            <a:avLst/>
          </a:prstGeom>
        </p:spPr>
        <p:txBody>
          <a:bodyPr lIns="0" tIns="0" rIns="0" bIns="0"/>
          <a:lstStyle>
            <a:defPPr>
              <a:defRPr sz="202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00000"/>
              </a:lnSpc>
              <a:buNone/>
              <a:defRPr sz="202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问题定义</a:t>
            </a:r>
            <a:endParaRPr sz="187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文本框 121"/>
          <p:cNvSpPr>
            <a:spLocks noGrp="1"/>
          </p:cNvSpPr>
          <p:nvPr/>
        </p:nvSpPr>
        <p:spPr>
          <a:xfrm>
            <a:off x="5086350" y="2362200"/>
            <a:ext cx="6191250" cy="333375"/>
          </a:xfrm>
          <a:prstGeom prst="rect">
            <a:avLst/>
          </a:prstGeom>
        </p:spPr>
        <p:txBody>
          <a:bodyPr lIns="0" tIns="0" rIns="0" bIns="0"/>
          <a:lstStyle>
            <a:defPPr>
              <a:defRPr sz="150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00000"/>
              </a:lnSpc>
              <a:buNone/>
              <a:defRPr sz="150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圆角矩形 122"/>
          <p:cNvSpPr>
            <a:spLocks noGrp="1"/>
          </p:cNvSpPr>
          <p:nvPr/>
        </p:nvSpPr>
        <p:spPr>
          <a:xfrm>
            <a:off x="4343400" y="278130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24" name="文本框 123"/>
          <p:cNvSpPr>
            <a:spLocks noGrp="1"/>
          </p:cNvSpPr>
          <p:nvPr/>
        </p:nvSpPr>
        <p:spPr>
          <a:xfrm>
            <a:off x="4467225" y="2914650"/>
            <a:ext cx="285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文本框 124"/>
          <p:cNvSpPr>
            <a:spLocks noGrp="1"/>
          </p:cNvSpPr>
          <p:nvPr/>
        </p:nvSpPr>
        <p:spPr>
          <a:xfrm>
            <a:off x="5086350" y="2914650"/>
            <a:ext cx="6191250" cy="361950"/>
          </a:xfrm>
          <a:prstGeom prst="rect">
            <a:avLst/>
          </a:prstGeom>
        </p:spPr>
        <p:txBody>
          <a:bodyPr lIns="0" tIns="0" rIns="0" bIns="0"/>
          <a:lstStyle>
            <a:defPPr>
              <a:defRPr sz="202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00000"/>
              </a:lnSpc>
              <a:buNone/>
              <a:defRPr sz="202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直观示例</a:t>
            </a:r>
            <a:endParaRPr sz="187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文本框 125"/>
          <p:cNvSpPr>
            <a:spLocks noGrp="1"/>
          </p:cNvSpPr>
          <p:nvPr/>
        </p:nvSpPr>
        <p:spPr>
          <a:xfrm>
            <a:off x="5086350" y="3124200"/>
            <a:ext cx="6191250" cy="361950"/>
          </a:xfrm>
          <a:prstGeom prst="rect">
            <a:avLst/>
          </a:prstGeom>
        </p:spPr>
        <p:txBody>
          <a:bodyPr lIns="0" tIns="0" rIns="0" bIns="0"/>
          <a:lstStyle>
            <a:defPPr>
              <a:defRPr sz="202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00000"/>
              </a:lnSpc>
              <a:buNone/>
              <a:defRPr sz="202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圆角矩形 126"/>
          <p:cNvSpPr>
            <a:spLocks noGrp="1"/>
          </p:cNvSpPr>
          <p:nvPr/>
        </p:nvSpPr>
        <p:spPr>
          <a:xfrm>
            <a:off x="4343400" y="354330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28" name="文本框 127"/>
          <p:cNvSpPr>
            <a:spLocks noGrp="1"/>
          </p:cNvSpPr>
          <p:nvPr/>
        </p:nvSpPr>
        <p:spPr>
          <a:xfrm>
            <a:off x="4467225" y="3676650"/>
            <a:ext cx="285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文本框 128"/>
          <p:cNvSpPr>
            <a:spLocks noGrp="1"/>
          </p:cNvSpPr>
          <p:nvPr/>
        </p:nvSpPr>
        <p:spPr>
          <a:xfrm>
            <a:off x="5086350" y="3552825"/>
            <a:ext cx="6191250" cy="361950"/>
          </a:xfrm>
          <a:prstGeom prst="rect">
            <a:avLst/>
          </a:prstGeom>
        </p:spPr>
        <p:txBody>
          <a:bodyPr lIns="0" tIns="0" rIns="0" bIns="0"/>
          <a:lstStyle>
            <a:defPPr>
              <a:defRPr sz="202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00000"/>
              </a:lnSpc>
              <a:buNone/>
              <a:defRPr sz="202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为什么采用互补邻接</a:t>
            </a:r>
            <a:endParaRPr sz="187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文本框 129"/>
          <p:cNvSpPr>
            <a:spLocks noGrp="1"/>
          </p:cNvSpPr>
          <p:nvPr/>
        </p:nvSpPr>
        <p:spPr>
          <a:xfrm>
            <a:off x="5086350" y="3886200"/>
            <a:ext cx="6191250" cy="361950"/>
          </a:xfrm>
          <a:prstGeom prst="rect">
            <a:avLst/>
          </a:prstGeom>
        </p:spPr>
        <p:txBody>
          <a:bodyPr lIns="0" tIns="0" rIns="0" bIns="0"/>
          <a:lstStyle>
            <a:defPPr>
              <a:defRPr sz="202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00000"/>
              </a:lnSpc>
              <a:buNone/>
              <a:defRPr sz="202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从种子填充的对角漏色理解分离性</a:t>
            </a:r>
            <a:endParaRPr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圆角矩形 130"/>
          <p:cNvSpPr>
            <a:spLocks noGrp="1"/>
          </p:cNvSpPr>
          <p:nvPr/>
        </p:nvSpPr>
        <p:spPr>
          <a:xfrm>
            <a:off x="4343400" y="430530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32" name="文本框 131"/>
          <p:cNvSpPr>
            <a:spLocks noGrp="1"/>
          </p:cNvSpPr>
          <p:nvPr/>
        </p:nvSpPr>
        <p:spPr>
          <a:xfrm>
            <a:off x="4467225" y="4438650"/>
            <a:ext cx="285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文本框 132"/>
          <p:cNvSpPr>
            <a:spLocks noGrp="1"/>
          </p:cNvSpPr>
          <p:nvPr/>
        </p:nvSpPr>
        <p:spPr>
          <a:xfrm>
            <a:off x="5086350" y="4314825"/>
            <a:ext cx="6191250" cy="361950"/>
          </a:xfrm>
          <a:prstGeom prst="rect">
            <a:avLst/>
          </a:prstGeom>
        </p:spPr>
        <p:txBody>
          <a:bodyPr lIns="0" tIns="0" rIns="0" bIns="0"/>
          <a:lstStyle>
            <a:defPPr>
              <a:defRPr sz="202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00000"/>
              </a:lnSpc>
              <a:buNone/>
              <a:defRPr sz="202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轮廓论证与适用范围</a:t>
            </a:r>
            <a:endParaRPr sz="187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文本框 133"/>
          <p:cNvSpPr>
            <a:spLocks noGrp="1"/>
          </p:cNvSpPr>
          <p:nvPr/>
        </p:nvSpPr>
        <p:spPr>
          <a:xfrm>
            <a:off x="5086350" y="4648200"/>
            <a:ext cx="6191250" cy="333375"/>
          </a:xfrm>
          <a:prstGeom prst="rect">
            <a:avLst/>
          </a:prstGeom>
        </p:spPr>
        <p:txBody>
          <a:bodyPr lIns="0" tIns="0" rIns="0" bIns="0"/>
          <a:lstStyle>
            <a:defPPr>
              <a:defRPr sz="150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00000"/>
              </a:lnSpc>
              <a:buNone/>
              <a:defRPr sz="150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局部分类、整体追踪、孔洞分开讨论</a:t>
            </a:r>
            <a:endParaRPr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63085" y="725170"/>
            <a:ext cx="69278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在连续的欧氏平面里，一条闭合曲线天然就能把平面分成“内部”和“外部”；但当图形被光栅化到离散的像素网格上时，对角线方向就会出现拓扑漏洞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" name="矩形 13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37" name="图片 13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0" y="4000500"/>
            <a:ext cx="2857500" cy="2667000"/>
          </a:xfrm>
          <a:prstGeom prst="rect">
            <a:avLst/>
          </a:prstGeom>
        </p:spPr>
      </p:pic>
      <p:sp>
        <p:nvSpPr>
          <p:cNvPr id="138" name="文本框 137"/>
          <p:cNvSpPr>
            <a:spLocks noGrp="1"/>
          </p:cNvSpPr>
          <p:nvPr/>
        </p:nvSpPr>
        <p:spPr>
          <a:xfrm>
            <a:off x="571500" y="1828800"/>
            <a:ext cx="4000500" cy="3200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1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1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9" name="文本框 138"/>
          <p:cNvSpPr>
            <a:spLocks noGrp="1"/>
          </p:cNvSpPr>
          <p:nvPr/>
        </p:nvSpPr>
        <p:spPr>
          <a:xfrm>
            <a:off x="3957320" y="476885"/>
            <a:ext cx="6953250" cy="533400"/>
          </a:xfrm>
          <a:prstGeom prst="rect">
            <a:avLst/>
          </a:prstGeom>
        </p:spPr>
        <p:txBody>
          <a:bodyPr lIns="0" tIns="0" rIns="0" bIns="0"/>
          <a:lstStyle>
            <a:defPPr>
              <a:defRPr sz="315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00000"/>
              </a:lnSpc>
              <a:buNone/>
              <a:defRPr sz="315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zh-CN" sz="3150" b="1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涉及的概念</a:t>
            </a:r>
            <a:endParaRPr sz="34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圆角矩形 139"/>
          <p:cNvSpPr>
            <a:spLocks noGrp="1"/>
          </p:cNvSpPr>
          <p:nvPr/>
        </p:nvSpPr>
        <p:spPr>
          <a:xfrm>
            <a:off x="4020185" y="1198880"/>
            <a:ext cx="68580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</p:spPr>
        <p:txBody>
          <a:bodyPr/>
          <a:lstStyle/>
          <a:p/>
        </p:txBody>
      </p:sp>
      <p:sp>
        <p:nvSpPr>
          <p:cNvPr id="141" name="圆角矩形 14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78275" y="165036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42" name="文本框 14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171950" y="1562100"/>
            <a:ext cx="7239000" cy="381000"/>
          </a:xfrm>
          <a:prstGeom prst="rect">
            <a:avLst/>
          </a:prstGeom>
        </p:spPr>
        <p:txBody>
          <a:bodyPr lIns="0" tIns="0" rIns="0" bIns="0"/>
          <a:lstStyle>
            <a:defPPr>
              <a:defRPr sz="180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55000"/>
              </a:lnSpc>
              <a:buNone/>
              <a:defRPr sz="180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前景 R：研究对象所占的像素集合</a:t>
            </a:r>
            <a:endParaRPr sz="15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" name="圆角矩形 14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978275" y="215519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44" name="文本框 14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171950" y="2066925"/>
            <a:ext cx="7239000" cy="381000"/>
          </a:xfrm>
          <a:prstGeom prst="rect">
            <a:avLst/>
          </a:prstGeom>
        </p:spPr>
        <p:txBody>
          <a:bodyPr lIns="0" tIns="0" rIns="0" bIns="0"/>
          <a:lstStyle>
            <a:defPPr>
              <a:defRPr sz="180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55000"/>
              </a:lnSpc>
              <a:buNone/>
              <a:defRPr sz="180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 D = Z² \ R：所有非前景像素</a:t>
            </a:r>
            <a:endParaRPr sz="15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5" name="圆角矩形 14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978275" y="266001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46" name="文本框 14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171950" y="2571750"/>
            <a:ext cx="7239000" cy="381000"/>
          </a:xfrm>
          <a:prstGeom prst="rect">
            <a:avLst/>
          </a:prstGeom>
        </p:spPr>
        <p:txBody>
          <a:bodyPr lIns="0" tIns="0" rIns="0" bIns="0"/>
          <a:lstStyle>
            <a:defPPr>
              <a:defRPr sz="180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55000"/>
              </a:lnSpc>
              <a:buNone/>
              <a:defRPr sz="180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 B：从背景中按邻接规则选出的像素</a:t>
            </a:r>
            <a:endParaRPr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3978275" y="3796665"/>
            <a:ext cx="7644765" cy="92329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defPPr>
              <a:defRPr sz="195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00"/>
          </a:p>
          <a:p>
            <a:endParaRPr sz="2000"/>
          </a:p>
          <a:p>
            <a:pPr>
              <a:defRPr sz="195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00"/>
          </a:p>
        </p:txBody>
      </p:sp>
      <p:sp>
        <p:nvSpPr>
          <p:cNvPr id="4" name="文本框 3"/>
          <p:cNvSpPr txBox="1"/>
          <p:nvPr/>
        </p:nvSpPr>
        <p:spPr>
          <a:xfrm>
            <a:off x="3900170" y="3335020"/>
            <a:ext cx="2906395" cy="575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  <a:defRPr sz="315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chemeClr val="accent1">
                    <a:lumMod val="50000"/>
                  </a:schemeClr>
                </a:solidFill>
              </a:rPr>
              <a:t>问题描述</a:t>
            </a:r>
            <a:endParaRPr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58895" y="4184015"/>
            <a:ext cx="774319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在二值图像中，像素邻接分为 4-邻接（上下左右）和 8-邻接（上下左右再加对角），并采用互补连通性约定：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前景为 4-连通时，背景及边界取 8-连通；前景为 8-连通时，背景及边界取 4-连通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；这里的“边界”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指区域与背景之间的边界轮廓，或背景中与前景区域相邻的边界分量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，而不是简单地把前景中所有挨着背景的像素都称为边界。因此在这一约定下，8-连通区域的边界是 4-连通的，4-连通区域的边界是 8-连通的，即数字图像中的 4-8 连通性对偶命题。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8" name="矩形 14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49" name="矩形 148"/>
          <p:cNvSpPr>
            <a:spLocks noGrp="1"/>
          </p:cNvSpPr>
          <p:nvPr/>
        </p:nvSpPr>
        <p:spPr>
          <a:xfrm>
            <a:off x="381000" y="457200"/>
            <a:ext cx="11430000" cy="66675"/>
          </a:xfrm>
          <a:prstGeom prst="rect">
            <a:avLst/>
          </a:prstGeom>
          <a:solidFill>
            <a:srgbClr val="16458B"/>
          </a:solidFill>
          <a:ln w="0">
            <a:noFill/>
            <a:prstDash val="solid"/>
          </a:ln>
        </p:spPr>
      </p:sp>
      <p:sp>
        <p:nvSpPr>
          <p:cNvPr id="150" name="矩形 149"/>
          <p:cNvSpPr>
            <a:spLocks noGrp="1"/>
          </p:cNvSpPr>
          <p:nvPr/>
        </p:nvSpPr>
        <p:spPr>
          <a:xfrm>
            <a:off x="381000" y="1209675"/>
            <a:ext cx="11430000" cy="9525"/>
          </a:xfrm>
          <a:prstGeom prst="rect">
            <a:avLst/>
          </a:prstGeom>
          <a:solidFill>
            <a:srgbClr val="D7DEE9"/>
          </a:solidFill>
          <a:ln w="0">
            <a:noFill/>
            <a:prstDash val="solid"/>
          </a:ln>
        </p:spPr>
      </p:sp>
      <p:sp>
        <p:nvSpPr>
          <p:cNvPr id="151" name="内容-中国科学院大学 · 计算机图形学"/>
          <p:cNvSpPr>
            <a:spLocks noGrp="1"/>
          </p:cNvSpPr>
          <p:nvPr/>
        </p:nvSpPr>
        <p:spPr>
          <a:xfrm>
            <a:off x="381000" y="63817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50" b="0">
              <a:solidFill>
                <a:srgbClr val="5965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内容-04 / 13"/>
          <p:cNvSpPr>
            <a:spLocks noGrp="1"/>
          </p:cNvSpPr>
          <p:nvPr/>
        </p:nvSpPr>
        <p:spPr>
          <a:xfrm>
            <a:off x="10763250" y="63817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05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50" b="0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3" name="内容-前景、背景与边界：三个集合，两种"/>
          <p:cNvSpPr>
            <a:spLocks noGrp="1"/>
          </p:cNvSpPr>
          <p:nvPr/>
        </p:nvSpPr>
        <p:spPr>
          <a:xfrm>
            <a:off x="381000" y="695325"/>
            <a:ext cx="11430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前景、背景与边界</a:t>
            </a:r>
            <a:endParaRPr sz="2550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" name="矩形 153"/>
          <p:cNvSpPr>
            <a:spLocks noGrp="1"/>
          </p:cNvSpPr>
          <p:nvPr/>
        </p:nvSpPr>
        <p:spPr>
          <a:xfrm>
            <a:off x="619125" y="1952625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55" name="矩形 154"/>
          <p:cNvSpPr>
            <a:spLocks noGrp="1"/>
          </p:cNvSpPr>
          <p:nvPr/>
        </p:nvSpPr>
        <p:spPr>
          <a:xfrm>
            <a:off x="1181100" y="1952625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56" name="矩形 155"/>
          <p:cNvSpPr>
            <a:spLocks noGrp="1"/>
          </p:cNvSpPr>
          <p:nvPr/>
        </p:nvSpPr>
        <p:spPr>
          <a:xfrm>
            <a:off x="1743075" y="1952625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57" name="矩形 156"/>
          <p:cNvSpPr>
            <a:spLocks noGrp="1"/>
          </p:cNvSpPr>
          <p:nvPr/>
        </p:nvSpPr>
        <p:spPr>
          <a:xfrm>
            <a:off x="2305050" y="1952625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58" name="矩形 157"/>
          <p:cNvSpPr>
            <a:spLocks noGrp="1"/>
          </p:cNvSpPr>
          <p:nvPr/>
        </p:nvSpPr>
        <p:spPr>
          <a:xfrm>
            <a:off x="2867025" y="1952625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59" name="矩形 158"/>
          <p:cNvSpPr>
            <a:spLocks noGrp="1"/>
          </p:cNvSpPr>
          <p:nvPr/>
        </p:nvSpPr>
        <p:spPr>
          <a:xfrm>
            <a:off x="3429000" y="1952625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60" name="矩形 159"/>
          <p:cNvSpPr>
            <a:spLocks noGrp="1"/>
          </p:cNvSpPr>
          <p:nvPr/>
        </p:nvSpPr>
        <p:spPr>
          <a:xfrm>
            <a:off x="619125" y="2514600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61" name="矩形 160"/>
          <p:cNvSpPr>
            <a:spLocks noGrp="1"/>
          </p:cNvSpPr>
          <p:nvPr/>
        </p:nvSpPr>
        <p:spPr>
          <a:xfrm>
            <a:off x="1181100" y="2514600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62" name="矩形 161"/>
          <p:cNvSpPr>
            <a:spLocks noGrp="1"/>
          </p:cNvSpPr>
          <p:nvPr/>
        </p:nvSpPr>
        <p:spPr>
          <a:xfrm>
            <a:off x="1743075" y="2514600"/>
            <a:ext cx="561975" cy="5619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63" name="矩形 162"/>
          <p:cNvSpPr>
            <a:spLocks noGrp="1"/>
          </p:cNvSpPr>
          <p:nvPr/>
        </p:nvSpPr>
        <p:spPr>
          <a:xfrm>
            <a:off x="2305050" y="2514600"/>
            <a:ext cx="561975" cy="5619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64" name="矩形 163"/>
          <p:cNvSpPr>
            <a:spLocks noGrp="1"/>
          </p:cNvSpPr>
          <p:nvPr/>
        </p:nvSpPr>
        <p:spPr>
          <a:xfrm>
            <a:off x="2867025" y="2514600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65" name="矩形 164"/>
          <p:cNvSpPr>
            <a:spLocks noGrp="1"/>
          </p:cNvSpPr>
          <p:nvPr/>
        </p:nvSpPr>
        <p:spPr>
          <a:xfrm>
            <a:off x="3429000" y="2514600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66" name="矩形 165"/>
          <p:cNvSpPr>
            <a:spLocks noGrp="1"/>
          </p:cNvSpPr>
          <p:nvPr/>
        </p:nvSpPr>
        <p:spPr>
          <a:xfrm>
            <a:off x="619125" y="3076575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67" name="矩形 166"/>
          <p:cNvSpPr>
            <a:spLocks noGrp="1"/>
          </p:cNvSpPr>
          <p:nvPr/>
        </p:nvSpPr>
        <p:spPr>
          <a:xfrm>
            <a:off x="1181100" y="3076575"/>
            <a:ext cx="561975" cy="5619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68" name="矩形 167"/>
          <p:cNvSpPr>
            <a:spLocks noGrp="1"/>
          </p:cNvSpPr>
          <p:nvPr/>
        </p:nvSpPr>
        <p:spPr>
          <a:xfrm>
            <a:off x="1743075" y="3076575"/>
            <a:ext cx="561975" cy="561975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69" name="矩形 168"/>
          <p:cNvSpPr>
            <a:spLocks noGrp="1"/>
          </p:cNvSpPr>
          <p:nvPr/>
        </p:nvSpPr>
        <p:spPr>
          <a:xfrm>
            <a:off x="2305050" y="3076575"/>
            <a:ext cx="561975" cy="561975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70" name="矩形 169"/>
          <p:cNvSpPr>
            <a:spLocks noGrp="1"/>
          </p:cNvSpPr>
          <p:nvPr/>
        </p:nvSpPr>
        <p:spPr>
          <a:xfrm>
            <a:off x="2867025" y="3076575"/>
            <a:ext cx="561975" cy="5619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71" name="矩形 170"/>
          <p:cNvSpPr>
            <a:spLocks noGrp="1"/>
          </p:cNvSpPr>
          <p:nvPr/>
        </p:nvSpPr>
        <p:spPr>
          <a:xfrm>
            <a:off x="3429000" y="3076575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72" name="矩形 171"/>
          <p:cNvSpPr>
            <a:spLocks noGrp="1"/>
          </p:cNvSpPr>
          <p:nvPr/>
        </p:nvSpPr>
        <p:spPr>
          <a:xfrm>
            <a:off x="619125" y="3638550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73" name="矩形 172"/>
          <p:cNvSpPr>
            <a:spLocks noGrp="1"/>
          </p:cNvSpPr>
          <p:nvPr/>
        </p:nvSpPr>
        <p:spPr>
          <a:xfrm>
            <a:off x="1181100" y="3638550"/>
            <a:ext cx="561975" cy="5619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74" name="矩形 173"/>
          <p:cNvSpPr>
            <a:spLocks noGrp="1"/>
          </p:cNvSpPr>
          <p:nvPr/>
        </p:nvSpPr>
        <p:spPr>
          <a:xfrm>
            <a:off x="1743075" y="3638550"/>
            <a:ext cx="561975" cy="561975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75" name="矩形 174"/>
          <p:cNvSpPr>
            <a:spLocks noGrp="1"/>
          </p:cNvSpPr>
          <p:nvPr/>
        </p:nvSpPr>
        <p:spPr>
          <a:xfrm>
            <a:off x="2305050" y="3638550"/>
            <a:ext cx="561975" cy="561975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76" name="矩形 175"/>
          <p:cNvSpPr>
            <a:spLocks noGrp="1"/>
          </p:cNvSpPr>
          <p:nvPr/>
        </p:nvSpPr>
        <p:spPr>
          <a:xfrm>
            <a:off x="2867025" y="3638550"/>
            <a:ext cx="561975" cy="5619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77" name="矩形 176"/>
          <p:cNvSpPr>
            <a:spLocks noGrp="1"/>
          </p:cNvSpPr>
          <p:nvPr/>
        </p:nvSpPr>
        <p:spPr>
          <a:xfrm>
            <a:off x="3429000" y="3638550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78" name="矩形 177"/>
          <p:cNvSpPr>
            <a:spLocks noGrp="1"/>
          </p:cNvSpPr>
          <p:nvPr/>
        </p:nvSpPr>
        <p:spPr>
          <a:xfrm>
            <a:off x="619125" y="4200525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79" name="矩形 178"/>
          <p:cNvSpPr>
            <a:spLocks noGrp="1"/>
          </p:cNvSpPr>
          <p:nvPr/>
        </p:nvSpPr>
        <p:spPr>
          <a:xfrm>
            <a:off x="1181100" y="4200525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0" name="矩形 179"/>
          <p:cNvSpPr>
            <a:spLocks noGrp="1"/>
          </p:cNvSpPr>
          <p:nvPr/>
        </p:nvSpPr>
        <p:spPr>
          <a:xfrm>
            <a:off x="1743075" y="4200525"/>
            <a:ext cx="561975" cy="5619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1" name="矩形 180"/>
          <p:cNvSpPr>
            <a:spLocks noGrp="1"/>
          </p:cNvSpPr>
          <p:nvPr/>
        </p:nvSpPr>
        <p:spPr>
          <a:xfrm>
            <a:off x="2305050" y="4200525"/>
            <a:ext cx="561975" cy="5619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2" name="矩形 181"/>
          <p:cNvSpPr>
            <a:spLocks noGrp="1"/>
          </p:cNvSpPr>
          <p:nvPr/>
        </p:nvSpPr>
        <p:spPr>
          <a:xfrm>
            <a:off x="2867025" y="4200525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3" name="矩形 182"/>
          <p:cNvSpPr>
            <a:spLocks noGrp="1"/>
          </p:cNvSpPr>
          <p:nvPr/>
        </p:nvSpPr>
        <p:spPr>
          <a:xfrm>
            <a:off x="3429000" y="4200525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4" name="矩形 183"/>
          <p:cNvSpPr>
            <a:spLocks noGrp="1"/>
          </p:cNvSpPr>
          <p:nvPr/>
        </p:nvSpPr>
        <p:spPr>
          <a:xfrm>
            <a:off x="619125" y="4762500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5" name="矩形 184"/>
          <p:cNvSpPr>
            <a:spLocks noGrp="1"/>
          </p:cNvSpPr>
          <p:nvPr/>
        </p:nvSpPr>
        <p:spPr>
          <a:xfrm>
            <a:off x="1181100" y="4762500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6" name="矩形 185"/>
          <p:cNvSpPr>
            <a:spLocks noGrp="1"/>
          </p:cNvSpPr>
          <p:nvPr/>
        </p:nvSpPr>
        <p:spPr>
          <a:xfrm>
            <a:off x="1743075" y="4762500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7" name="矩形 186"/>
          <p:cNvSpPr>
            <a:spLocks noGrp="1"/>
          </p:cNvSpPr>
          <p:nvPr/>
        </p:nvSpPr>
        <p:spPr>
          <a:xfrm>
            <a:off x="2305050" y="4762500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8" name="矩形 187"/>
          <p:cNvSpPr>
            <a:spLocks noGrp="1"/>
          </p:cNvSpPr>
          <p:nvPr/>
        </p:nvSpPr>
        <p:spPr>
          <a:xfrm>
            <a:off x="2867025" y="4762500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9" name="矩形 188"/>
          <p:cNvSpPr>
            <a:spLocks noGrp="1"/>
          </p:cNvSpPr>
          <p:nvPr/>
        </p:nvSpPr>
        <p:spPr>
          <a:xfrm>
            <a:off x="3429000" y="4762500"/>
            <a:ext cx="56197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0" name="内容-紫色是前景 R"/>
          <p:cNvSpPr>
            <a:spLocks noGrp="1"/>
          </p:cNvSpPr>
          <p:nvPr/>
        </p:nvSpPr>
        <p:spPr>
          <a:xfrm>
            <a:off x="619125" y="5524500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紫色是前景 R</a:t>
            </a:r>
            <a:endParaRPr sz="1875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1" name="内容-橙色 + 白色都是背景 D"/>
          <p:cNvSpPr>
            <a:spLocks noGrp="1"/>
          </p:cNvSpPr>
          <p:nvPr/>
        </p:nvSpPr>
        <p:spPr>
          <a:xfrm>
            <a:off x="619125" y="5905500"/>
            <a:ext cx="447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橙色 + 白色都是背景 D</a:t>
            </a:r>
            <a:endParaRPr sz="1875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2" name="内容-前景 R"/>
          <p:cNvSpPr>
            <a:spLocks noGrp="1"/>
          </p:cNvSpPr>
          <p:nvPr/>
        </p:nvSpPr>
        <p:spPr>
          <a:xfrm>
            <a:off x="5095875" y="1571625"/>
            <a:ext cx="619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前景 R</a:t>
            </a:r>
            <a:endParaRPr sz="2175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3" name="内容-我们选定的、需要研究的区域。"/>
          <p:cNvSpPr>
            <a:spLocks noGrp="1"/>
          </p:cNvSpPr>
          <p:nvPr/>
        </p:nvSpPr>
        <p:spPr>
          <a:xfrm>
            <a:off x="5095875" y="1981200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我们选定的、需要研究的区域。</a:t>
            </a:r>
            <a:endParaRPr sz="1875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4" name="内容-背景 D"/>
          <p:cNvSpPr>
            <a:spLocks noGrp="1"/>
          </p:cNvSpPr>
          <p:nvPr/>
        </p:nvSpPr>
        <p:spPr>
          <a:xfrm>
            <a:off x="5095875" y="2667000"/>
            <a:ext cx="619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 D</a:t>
            </a:r>
            <a:endParaRPr sz="2175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5" name="内容-所有不属于 R 的像素，包括孔洞"/>
          <p:cNvSpPr>
            <a:spLocks noGrp="1"/>
          </p:cNvSpPr>
          <p:nvPr/>
        </p:nvSpPr>
        <p:spPr>
          <a:xfrm>
            <a:off x="5095875" y="3086100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所有不属于 R 的像素，包括孔洞。</a:t>
            </a:r>
            <a:endParaRPr sz="1875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6" name="内容-背景侧边界 B"/>
          <p:cNvSpPr>
            <a:spLocks noGrp="1"/>
          </p:cNvSpPr>
          <p:nvPr/>
        </p:nvSpPr>
        <p:spPr>
          <a:xfrm>
            <a:off x="5095875" y="3790950"/>
            <a:ext cx="619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背景侧边界 B</a:t>
            </a:r>
            <a:endParaRPr sz="2175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7" name="内容-背景中与前景按指定规则邻接的像素"/>
          <p:cNvSpPr>
            <a:spLocks noGrp="1"/>
          </p:cNvSpPr>
          <p:nvPr/>
        </p:nvSpPr>
        <p:spPr>
          <a:xfrm>
            <a:off x="5095875" y="4229100"/>
            <a:ext cx="6191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背景中与前景按指定规则邻接的像素。</a:t>
            </a:r>
            <a:endParaRPr sz="1875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图中橙色采用 4-邻接选取。</a:t>
            </a:r>
            <a:endParaRPr sz="1875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8" name="内容-B ⊆ D，且 B ∩ R = "/>
          <p:cNvSpPr>
            <a:spLocks noGrp="1"/>
          </p:cNvSpPr>
          <p:nvPr/>
        </p:nvSpPr>
        <p:spPr>
          <a:xfrm>
            <a:off x="4869180" y="5400675"/>
            <a:ext cx="62179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2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>
                <a:solidFill>
                  <a:srgbClr val="202B3D"/>
                </a:solidFill>
                <a:sym typeface="+mn-ea"/>
              </a:rPr>
              <a:t>边界属于背景，即 B ⊆ D</a:t>
            </a:r>
            <a:endParaRPr sz="2250"/>
          </a:p>
          <a:p>
            <a:pPr>
              <a:defRPr sz="195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>
                <a:solidFill>
                  <a:srgbClr val="202B3D"/>
                </a:solidFill>
                <a:sym typeface="+mn-ea"/>
              </a:rPr>
              <a:t>橙色只是为了显示边界而单独着色</a:t>
            </a:r>
            <a:endParaRPr sz="2250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9545" y="204470"/>
            <a:ext cx="6096000" cy="48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边界的</a:t>
            </a:r>
            <a:r>
              <a:rPr lang="zh-CN"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连通方式</a:t>
            </a:r>
            <a:endParaRPr lang="zh-CN" altLang="en-US" sz="2550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9" name="矩形 148"/>
          <p:cNvSpPr>
            <a:spLocks noGrp="1"/>
          </p:cNvSpPr>
          <p:nvPr/>
        </p:nvSpPr>
        <p:spPr>
          <a:xfrm>
            <a:off x="311785" y="687705"/>
            <a:ext cx="11430000" cy="66675"/>
          </a:xfrm>
          <a:prstGeom prst="rect">
            <a:avLst/>
          </a:prstGeom>
          <a:solidFill>
            <a:srgbClr val="16458B"/>
          </a:solidFill>
          <a:ln w="0">
            <a:noFill/>
            <a:prstDash val="solid"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85" y="73660"/>
            <a:ext cx="11846560" cy="63404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85" y="3726815"/>
            <a:ext cx="5304155" cy="24536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43930" y="3558540"/>
            <a:ext cx="40043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tx1"/>
                </a:solidFill>
              </a:rPr>
              <a:t>4</a:t>
            </a:r>
            <a:r>
              <a:rPr lang="zh-CN" altLang="en-US" sz="2400" b="1">
                <a:solidFill>
                  <a:schemeClr val="tx1"/>
                </a:solidFill>
              </a:rPr>
              <a:t>连通区域也是</a:t>
            </a:r>
            <a:r>
              <a:rPr lang="en-US" altLang="zh-CN" sz="2400" b="1">
                <a:solidFill>
                  <a:schemeClr val="tx1"/>
                </a:solidFill>
              </a:rPr>
              <a:t>8</a:t>
            </a:r>
            <a:r>
              <a:rPr lang="zh-CN" altLang="en-US" sz="2400" b="1">
                <a:solidFill>
                  <a:schemeClr val="tx1"/>
                </a:solidFill>
              </a:rPr>
              <a:t>连通区域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13525" y="4060190"/>
            <a:ext cx="41763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但是在研究这个命题的时候，要将</a:t>
            </a:r>
            <a:r>
              <a:rPr lang="en-US" altLang="zh-CN" b="1"/>
              <a:t>4-</a:t>
            </a:r>
            <a:r>
              <a:rPr lang="zh-CN" altLang="en-US" b="1"/>
              <a:t>连通和</a:t>
            </a:r>
            <a:r>
              <a:rPr lang="en-US" altLang="zh-CN" b="1"/>
              <a:t>8-</a:t>
            </a:r>
            <a:r>
              <a:rPr lang="zh-CN" altLang="en-US" b="1"/>
              <a:t>连通严格区分开</a:t>
            </a:r>
            <a:endParaRPr lang="zh-CN" altLang="en-US" b="1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225" y="4691380"/>
            <a:ext cx="6275070" cy="19221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458210" y="380365"/>
            <a:ext cx="3479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</a:rPr>
              <a:t>回顾</a:t>
            </a:r>
            <a:r>
              <a:rPr lang="en-US" altLang="zh-CN" sz="2400" b="1">
                <a:solidFill>
                  <a:schemeClr val="tx1"/>
                </a:solidFill>
              </a:rPr>
              <a:t>PPT</a:t>
            </a:r>
            <a:r>
              <a:rPr lang="zh-CN" altLang="en-US" sz="2400" b="1">
                <a:solidFill>
                  <a:schemeClr val="tx1"/>
                </a:solidFill>
              </a:rPr>
              <a:t>讲义</a:t>
            </a:r>
            <a:endParaRPr lang="zh-CN" altLang="en-US" sz="2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1" name="矩形 17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72" name="矩形 171"/>
          <p:cNvSpPr>
            <a:spLocks noGrp="1"/>
          </p:cNvSpPr>
          <p:nvPr/>
        </p:nvSpPr>
        <p:spPr>
          <a:xfrm>
            <a:off x="381000" y="457200"/>
            <a:ext cx="11430000" cy="66675"/>
          </a:xfrm>
          <a:prstGeom prst="rect">
            <a:avLst/>
          </a:prstGeom>
          <a:solidFill>
            <a:srgbClr val="16458B"/>
          </a:solidFill>
          <a:ln w="0">
            <a:noFill/>
            <a:prstDash val="solid"/>
          </a:ln>
        </p:spPr>
      </p:sp>
      <p:sp>
        <p:nvSpPr>
          <p:cNvPr id="173" name="矩形 172"/>
          <p:cNvSpPr>
            <a:spLocks noGrp="1"/>
          </p:cNvSpPr>
          <p:nvPr/>
        </p:nvSpPr>
        <p:spPr>
          <a:xfrm>
            <a:off x="381000" y="1209675"/>
            <a:ext cx="11430000" cy="9525"/>
          </a:xfrm>
          <a:prstGeom prst="rect">
            <a:avLst/>
          </a:prstGeom>
          <a:solidFill>
            <a:srgbClr val="D7DEE9"/>
          </a:solidFill>
          <a:ln w="0">
            <a:noFill/>
            <a:prstDash val="solid"/>
          </a:ln>
        </p:spPr>
      </p:sp>
      <p:sp>
        <p:nvSpPr>
          <p:cNvPr id="174" name="内容-中国科学院大学 · 计算机图形学"/>
          <p:cNvSpPr>
            <a:spLocks noGrp="1"/>
          </p:cNvSpPr>
          <p:nvPr/>
        </p:nvSpPr>
        <p:spPr>
          <a:xfrm>
            <a:off x="381000" y="63817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50" b="0">
              <a:solidFill>
                <a:srgbClr val="5965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" name="内容-05 / 13"/>
          <p:cNvSpPr>
            <a:spLocks noGrp="1"/>
          </p:cNvSpPr>
          <p:nvPr/>
        </p:nvSpPr>
        <p:spPr>
          <a:xfrm>
            <a:off x="10763250" y="63817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05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50" b="0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" name="内容-选边界的规则，不等于边界的连通性"/>
          <p:cNvSpPr>
            <a:spLocks noGrp="1"/>
          </p:cNvSpPr>
          <p:nvPr/>
        </p:nvSpPr>
        <p:spPr>
          <a:xfrm>
            <a:off x="381000" y="695325"/>
            <a:ext cx="11430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边界的选取与连通性</a:t>
            </a:r>
            <a:r>
              <a:rPr lang="en-US" altLang="zh-CN"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en-US" altLang="zh-CN" sz="200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(B_4、B_8) </a:t>
            </a:r>
            <a:r>
              <a:rPr lang="zh-CN" altLang="en-US" sz="200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的下标表示边界的选取规则，不表示边界自身的连通性</a:t>
            </a:r>
            <a:endParaRPr lang="zh-CN" altLang="en-US" sz="2000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" name="内容-B₄：共边的背景像素"/>
          <p:cNvSpPr>
            <a:spLocks noGrp="1"/>
          </p:cNvSpPr>
          <p:nvPr/>
        </p:nvSpPr>
        <p:spPr>
          <a:xfrm>
            <a:off x="666750" y="1504950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B₄：</a:t>
            </a:r>
            <a:r>
              <a:rPr lang="zh-CN" altLang="en-US"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与前景</a:t>
            </a:r>
            <a:r>
              <a: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共边的背景像素</a:t>
            </a:r>
            <a:endParaRPr sz="2175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8" name="内容-B₈：共边或共角的背景像素"/>
          <p:cNvSpPr>
            <a:spLocks noGrp="1"/>
          </p:cNvSpPr>
          <p:nvPr/>
        </p:nvSpPr>
        <p:spPr>
          <a:xfrm>
            <a:off x="6429375" y="150495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B₈：</a:t>
            </a:r>
            <a:r>
              <a:rPr lang="zh-CN" altLang="en-US"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与前景</a:t>
            </a:r>
            <a:r>
              <a: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共边或共角的背景像素</a:t>
            </a:r>
            <a:endParaRPr sz="2175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9" name="矩形 178"/>
          <p:cNvSpPr>
            <a:spLocks noGrp="1"/>
          </p:cNvSpPr>
          <p:nvPr/>
        </p:nvSpPr>
        <p:spPr>
          <a:xfrm>
            <a:off x="1428750" y="2238375"/>
            <a:ext cx="8191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0" name="矩形 179"/>
          <p:cNvSpPr>
            <a:spLocks noGrp="1"/>
          </p:cNvSpPr>
          <p:nvPr/>
        </p:nvSpPr>
        <p:spPr>
          <a:xfrm>
            <a:off x="2247900" y="2238375"/>
            <a:ext cx="819150" cy="81915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1" name="矩形 180"/>
          <p:cNvSpPr>
            <a:spLocks noGrp="1"/>
          </p:cNvSpPr>
          <p:nvPr/>
        </p:nvSpPr>
        <p:spPr>
          <a:xfrm>
            <a:off x="3067050" y="2238375"/>
            <a:ext cx="8191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2" name="矩形 18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428750" y="3057525"/>
            <a:ext cx="819150" cy="81915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3" name="矩形 18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247900" y="3057525"/>
            <a:ext cx="819150" cy="819150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4" name="内容-R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247900" y="3057525"/>
            <a:ext cx="819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19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19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9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endParaRPr sz="2195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5" name="矩形 18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067050" y="3057525"/>
            <a:ext cx="819150" cy="81915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6" name="矩形 18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28750" y="3876675"/>
            <a:ext cx="8191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7" name="矩形 186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247900" y="3876675"/>
            <a:ext cx="819150" cy="81915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8" name="矩形 18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067050" y="3876675"/>
            <a:ext cx="8191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89" name="矩形 188"/>
          <p:cNvSpPr>
            <a:spLocks noGrp="1"/>
          </p:cNvSpPr>
          <p:nvPr/>
        </p:nvSpPr>
        <p:spPr>
          <a:xfrm>
            <a:off x="7429500" y="2238375"/>
            <a:ext cx="819150" cy="81915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0" name="矩形 189"/>
          <p:cNvSpPr>
            <a:spLocks noGrp="1"/>
          </p:cNvSpPr>
          <p:nvPr/>
        </p:nvSpPr>
        <p:spPr>
          <a:xfrm>
            <a:off x="8248650" y="2238375"/>
            <a:ext cx="819150" cy="81915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1" name="矩形 190"/>
          <p:cNvSpPr>
            <a:spLocks noGrp="1"/>
          </p:cNvSpPr>
          <p:nvPr/>
        </p:nvSpPr>
        <p:spPr>
          <a:xfrm>
            <a:off x="9067800" y="2238375"/>
            <a:ext cx="819150" cy="81915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2" name="矩形 19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429500" y="3057525"/>
            <a:ext cx="819150" cy="81915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3" name="矩形 19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248650" y="3057525"/>
            <a:ext cx="819150" cy="819150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4" name="内容-R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248650" y="3057525"/>
            <a:ext cx="819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19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19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9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endParaRPr sz="2195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5" name="矩形 19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067800" y="3057525"/>
            <a:ext cx="819150" cy="81915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6" name="矩形 19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429500" y="3876675"/>
            <a:ext cx="819150" cy="81915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7" name="矩形 19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248650" y="3876675"/>
            <a:ext cx="819150" cy="81915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8" name="矩形 19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9067800" y="3876675"/>
            <a:ext cx="819150" cy="81915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9" name="内容-选上下左右四格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047750" y="49053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选上下左右四格</a:t>
            </a:r>
            <a:endParaRPr sz="1875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0" name="内容-选周围八格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7048500" y="49053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选周围八格</a:t>
            </a:r>
            <a:endParaRPr sz="1875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1" name="内容-橙色集合可用 8-步连起来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762000" y="538162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9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950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" name="内容-橙色集合可用 4-步连起来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6667500" y="538162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9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950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0" y="5330190"/>
            <a:ext cx="4260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橙色像素通过对角步连接，因此 8-连通，但不 4-连通</a:t>
            </a:r>
            <a:endParaRPr lang="zh-CN" altLang="en-US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13550" y="5286375"/>
            <a:ext cx="4095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橙色像素仅靠上下左右即可连接，因此 4-连通</a:t>
            </a:r>
            <a:endParaRPr lang="zh-CN" altLang="en-US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51885" y="6953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6" name="矩形 18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87" name="矩形 186"/>
          <p:cNvSpPr>
            <a:spLocks noGrp="1"/>
          </p:cNvSpPr>
          <p:nvPr/>
        </p:nvSpPr>
        <p:spPr>
          <a:xfrm>
            <a:off x="381000" y="457200"/>
            <a:ext cx="11430000" cy="66675"/>
          </a:xfrm>
          <a:prstGeom prst="rect">
            <a:avLst/>
          </a:prstGeom>
          <a:solidFill>
            <a:srgbClr val="16458B"/>
          </a:solidFill>
          <a:ln w="0">
            <a:noFill/>
            <a:prstDash val="solid"/>
          </a:ln>
        </p:spPr>
      </p:sp>
      <p:sp>
        <p:nvSpPr>
          <p:cNvPr id="188" name="矩形 187"/>
          <p:cNvSpPr>
            <a:spLocks noGrp="1"/>
          </p:cNvSpPr>
          <p:nvPr/>
        </p:nvSpPr>
        <p:spPr>
          <a:xfrm>
            <a:off x="381000" y="1209675"/>
            <a:ext cx="11430000" cy="9525"/>
          </a:xfrm>
          <a:prstGeom prst="rect">
            <a:avLst/>
          </a:prstGeom>
          <a:solidFill>
            <a:srgbClr val="D7DEE9"/>
          </a:solidFill>
          <a:ln w="0">
            <a:noFill/>
            <a:prstDash val="solid"/>
          </a:ln>
        </p:spPr>
      </p:sp>
      <p:sp>
        <p:nvSpPr>
          <p:cNvPr id="189" name="内容-中国科学院大学 · 计算机图形学"/>
          <p:cNvSpPr>
            <a:spLocks noGrp="1"/>
          </p:cNvSpPr>
          <p:nvPr/>
        </p:nvSpPr>
        <p:spPr>
          <a:xfrm>
            <a:off x="381000" y="63817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中国科学院大学 · 计算机图形学</a:t>
            </a:r>
            <a:endParaRPr sz="1050" b="0">
              <a:solidFill>
                <a:srgbClr val="5965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0" name="内容-06 / 13"/>
          <p:cNvSpPr>
            <a:spLocks noGrp="1"/>
          </p:cNvSpPr>
          <p:nvPr/>
        </p:nvSpPr>
        <p:spPr>
          <a:xfrm>
            <a:off x="10763250" y="63817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05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50" b="0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1" name="内容-两个对角前景像素，边界能否只走上"/>
          <p:cNvSpPr>
            <a:spLocks noGrp="1"/>
          </p:cNvSpPr>
          <p:nvPr/>
        </p:nvSpPr>
        <p:spPr>
          <a:xfrm>
            <a:off x="381000" y="695325"/>
            <a:ext cx="11430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</a:t>
            </a:r>
            <a:r>
              <a:rPr lang="en-US" altLang="zh-CN"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8-</a:t>
            </a:r>
            <a:r>
              <a:rPr lang="zh-CN" altLang="en-US"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连通前景采用</a:t>
            </a:r>
            <a:r>
              <a:rPr lang="en-US" altLang="zh-CN"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8-</a:t>
            </a:r>
            <a:r>
              <a:rPr lang="zh-CN" altLang="en-US"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连通</a:t>
            </a:r>
            <a:r>
              <a:rPr lang="zh-CN" altLang="en-US"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边界？</a:t>
            </a:r>
            <a:endParaRPr lang="zh-CN" altLang="en-US" sz="2550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2" name="矩形 191"/>
          <p:cNvSpPr>
            <a:spLocks noGrp="1"/>
          </p:cNvSpPr>
          <p:nvPr/>
        </p:nvSpPr>
        <p:spPr>
          <a:xfrm>
            <a:off x="809625" y="2000250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3" name="内容-1"/>
          <p:cNvSpPr>
            <a:spLocks noGrp="1"/>
          </p:cNvSpPr>
          <p:nvPr/>
        </p:nvSpPr>
        <p:spPr>
          <a:xfrm>
            <a:off x="809625" y="200025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4" name="矩形 193"/>
          <p:cNvSpPr>
            <a:spLocks noGrp="1"/>
          </p:cNvSpPr>
          <p:nvPr/>
        </p:nvSpPr>
        <p:spPr>
          <a:xfrm>
            <a:off x="1638300" y="2000250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5" name="内容-2"/>
          <p:cNvSpPr>
            <a:spLocks noGrp="1"/>
          </p:cNvSpPr>
          <p:nvPr/>
        </p:nvSpPr>
        <p:spPr>
          <a:xfrm>
            <a:off x="1638300" y="200025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6" name="矩形 195"/>
          <p:cNvSpPr>
            <a:spLocks noGrp="1"/>
          </p:cNvSpPr>
          <p:nvPr/>
        </p:nvSpPr>
        <p:spPr>
          <a:xfrm>
            <a:off x="2466975" y="2000250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7" name="内容-3"/>
          <p:cNvSpPr>
            <a:spLocks noGrp="1"/>
          </p:cNvSpPr>
          <p:nvPr/>
        </p:nvSpPr>
        <p:spPr>
          <a:xfrm>
            <a:off x="2466975" y="200025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8" name="矩形 197"/>
          <p:cNvSpPr>
            <a:spLocks noGrp="1"/>
          </p:cNvSpPr>
          <p:nvPr/>
        </p:nvSpPr>
        <p:spPr>
          <a:xfrm>
            <a:off x="3295650" y="2000250"/>
            <a:ext cx="828675" cy="8286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9" name="矩形 198"/>
          <p:cNvSpPr>
            <a:spLocks noGrp="1"/>
          </p:cNvSpPr>
          <p:nvPr/>
        </p:nvSpPr>
        <p:spPr>
          <a:xfrm>
            <a:off x="809625" y="2828925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00" name="内容-12"/>
          <p:cNvSpPr>
            <a:spLocks noGrp="1"/>
          </p:cNvSpPr>
          <p:nvPr/>
        </p:nvSpPr>
        <p:spPr>
          <a:xfrm>
            <a:off x="809625" y="282892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1" name="矩形 200"/>
          <p:cNvSpPr>
            <a:spLocks noGrp="1"/>
          </p:cNvSpPr>
          <p:nvPr/>
        </p:nvSpPr>
        <p:spPr>
          <a:xfrm>
            <a:off x="1638300" y="2828925"/>
            <a:ext cx="828675" cy="828675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02" name="内容-F"/>
          <p:cNvSpPr>
            <a:spLocks noGrp="1"/>
          </p:cNvSpPr>
          <p:nvPr/>
        </p:nvSpPr>
        <p:spPr>
          <a:xfrm>
            <a:off x="1638300" y="282892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" name="矩形 202"/>
          <p:cNvSpPr>
            <a:spLocks noGrp="1"/>
          </p:cNvSpPr>
          <p:nvPr/>
        </p:nvSpPr>
        <p:spPr>
          <a:xfrm>
            <a:off x="2466975" y="2828925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04" name="内容-4"/>
          <p:cNvSpPr>
            <a:spLocks noGrp="1"/>
          </p:cNvSpPr>
          <p:nvPr/>
        </p:nvSpPr>
        <p:spPr>
          <a:xfrm>
            <a:off x="2466975" y="282892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" name="矩形 204"/>
          <p:cNvSpPr>
            <a:spLocks noGrp="1"/>
          </p:cNvSpPr>
          <p:nvPr/>
        </p:nvSpPr>
        <p:spPr>
          <a:xfrm>
            <a:off x="3295650" y="2828925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06" name="内容-5"/>
          <p:cNvSpPr>
            <a:spLocks noGrp="1"/>
          </p:cNvSpPr>
          <p:nvPr/>
        </p:nvSpPr>
        <p:spPr>
          <a:xfrm>
            <a:off x="3295650" y="282892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7" name="矩形 206"/>
          <p:cNvSpPr>
            <a:spLocks noGrp="1"/>
          </p:cNvSpPr>
          <p:nvPr/>
        </p:nvSpPr>
        <p:spPr>
          <a:xfrm>
            <a:off x="809625" y="3657600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08" name="内容-11"/>
          <p:cNvSpPr>
            <a:spLocks noGrp="1"/>
          </p:cNvSpPr>
          <p:nvPr/>
        </p:nvSpPr>
        <p:spPr>
          <a:xfrm>
            <a:off x="809625" y="365760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9" name="矩形 208"/>
          <p:cNvSpPr>
            <a:spLocks noGrp="1"/>
          </p:cNvSpPr>
          <p:nvPr/>
        </p:nvSpPr>
        <p:spPr>
          <a:xfrm>
            <a:off x="1638300" y="3657600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0" name="内容-10"/>
          <p:cNvSpPr>
            <a:spLocks noGrp="1"/>
          </p:cNvSpPr>
          <p:nvPr/>
        </p:nvSpPr>
        <p:spPr>
          <a:xfrm>
            <a:off x="1638300" y="365760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1" name="矩形 210"/>
          <p:cNvSpPr>
            <a:spLocks noGrp="1"/>
          </p:cNvSpPr>
          <p:nvPr/>
        </p:nvSpPr>
        <p:spPr>
          <a:xfrm>
            <a:off x="2466975" y="3657600"/>
            <a:ext cx="828675" cy="828675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2" name="内容-F"/>
          <p:cNvSpPr>
            <a:spLocks noGrp="1"/>
          </p:cNvSpPr>
          <p:nvPr/>
        </p:nvSpPr>
        <p:spPr>
          <a:xfrm>
            <a:off x="2466975" y="365760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3" name="矩形 212"/>
          <p:cNvSpPr>
            <a:spLocks noGrp="1"/>
          </p:cNvSpPr>
          <p:nvPr/>
        </p:nvSpPr>
        <p:spPr>
          <a:xfrm>
            <a:off x="3295650" y="3657600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4" name="内容-6"/>
          <p:cNvSpPr>
            <a:spLocks noGrp="1"/>
          </p:cNvSpPr>
          <p:nvPr/>
        </p:nvSpPr>
        <p:spPr>
          <a:xfrm>
            <a:off x="3295650" y="365760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5" name="矩形 214"/>
          <p:cNvSpPr>
            <a:spLocks noGrp="1"/>
          </p:cNvSpPr>
          <p:nvPr/>
        </p:nvSpPr>
        <p:spPr>
          <a:xfrm>
            <a:off x="809625" y="4486275"/>
            <a:ext cx="828675" cy="8286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6" name="矩形 215"/>
          <p:cNvSpPr>
            <a:spLocks noGrp="1"/>
          </p:cNvSpPr>
          <p:nvPr/>
        </p:nvSpPr>
        <p:spPr>
          <a:xfrm>
            <a:off x="1638300" y="4486275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7" name="内容-9"/>
          <p:cNvSpPr>
            <a:spLocks noGrp="1"/>
          </p:cNvSpPr>
          <p:nvPr/>
        </p:nvSpPr>
        <p:spPr>
          <a:xfrm>
            <a:off x="1638300" y="448627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8" name="矩形 217"/>
          <p:cNvSpPr>
            <a:spLocks noGrp="1"/>
          </p:cNvSpPr>
          <p:nvPr/>
        </p:nvSpPr>
        <p:spPr>
          <a:xfrm>
            <a:off x="2466975" y="4486275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9" name="内容-8"/>
          <p:cNvSpPr>
            <a:spLocks noGrp="1"/>
          </p:cNvSpPr>
          <p:nvPr/>
        </p:nvSpPr>
        <p:spPr>
          <a:xfrm>
            <a:off x="2466975" y="448627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0" name="矩形 219"/>
          <p:cNvSpPr>
            <a:spLocks noGrp="1"/>
          </p:cNvSpPr>
          <p:nvPr/>
        </p:nvSpPr>
        <p:spPr>
          <a:xfrm>
            <a:off x="3295650" y="4486275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21" name="内容-7"/>
          <p:cNvSpPr>
            <a:spLocks noGrp="1"/>
          </p:cNvSpPr>
          <p:nvPr/>
        </p:nvSpPr>
        <p:spPr>
          <a:xfrm>
            <a:off x="3295650" y="448627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2" name="内容-先看紫色前景"/>
          <p:cNvSpPr>
            <a:spLocks noGrp="1"/>
          </p:cNvSpPr>
          <p:nvPr/>
        </p:nvSpPr>
        <p:spPr>
          <a:xfrm>
            <a:off x="5095875" y="1666875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先看紫色前景</a:t>
            </a:r>
            <a:endParaRPr sz="2175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3" name="内容-两点对角相邻：8-连通，但不 4"/>
          <p:cNvSpPr>
            <a:spLocks noGrp="1"/>
          </p:cNvSpPr>
          <p:nvPr/>
        </p:nvSpPr>
        <p:spPr>
          <a:xfrm>
            <a:off x="5095875" y="2095500"/>
            <a:ext cx="619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两点对角相邻：8-连通，但不 4-连通。</a:t>
            </a:r>
            <a:endParaRPr sz="1875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4" name="内容-再选橙色边界 B₈"/>
          <p:cNvSpPr>
            <a:spLocks noGrp="1"/>
          </p:cNvSpPr>
          <p:nvPr/>
        </p:nvSpPr>
        <p:spPr>
          <a:xfrm>
            <a:off x="5095875" y="3000375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再选橙色边界 B₈</a:t>
            </a:r>
            <a:endParaRPr sz="2175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5" name="内容-选入与前景共边或共角的背景像素。"/>
          <p:cNvSpPr>
            <a:spLocks noGrp="1"/>
          </p:cNvSpPr>
          <p:nvPr/>
        </p:nvSpPr>
        <p:spPr>
          <a:xfrm>
            <a:off x="5095875" y="3429000"/>
            <a:ext cx="619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选入与前景共边或共角的背景像素。</a:t>
            </a:r>
            <a:endParaRPr sz="1875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6" name="内容-最后沿橙色编号走"/>
          <p:cNvSpPr>
            <a:spLocks noGrp="1"/>
          </p:cNvSpPr>
          <p:nvPr/>
        </p:nvSpPr>
        <p:spPr>
          <a:xfrm>
            <a:off x="5095875" y="4286250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最后沿橙色编号走</a:t>
            </a:r>
            <a:endParaRPr sz="2175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7" name="内容-1 → 2 → … → 12 →"/>
          <p:cNvSpPr>
            <a:spLocks noGrp="1"/>
          </p:cNvSpPr>
          <p:nvPr/>
        </p:nvSpPr>
        <p:spPr>
          <a:xfrm>
            <a:off x="5095875" y="4714875"/>
            <a:ext cx="6191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→ 2 → … → 12 → 1</a:t>
            </a:r>
            <a:endParaRPr sz="1875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相邻编号全都共边，因此边界 4-连通。</a:t>
            </a:r>
            <a:endParaRPr sz="1875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8" name="内容-本页是实例验证；一般结论还需要证"/>
          <p:cNvSpPr>
            <a:spLocks noGrp="1"/>
          </p:cNvSpPr>
          <p:nvPr/>
        </p:nvSpPr>
        <p:spPr>
          <a:xfrm>
            <a:off x="809625" y="5857875"/>
            <a:ext cx="10668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50" b="0">
              <a:solidFill>
                <a:srgbClr val="5965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6" name="矩形 18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87" name="矩形 186"/>
          <p:cNvSpPr>
            <a:spLocks noGrp="1"/>
          </p:cNvSpPr>
          <p:nvPr/>
        </p:nvSpPr>
        <p:spPr>
          <a:xfrm>
            <a:off x="381000" y="457200"/>
            <a:ext cx="11430000" cy="66675"/>
          </a:xfrm>
          <a:prstGeom prst="rect">
            <a:avLst/>
          </a:prstGeom>
          <a:solidFill>
            <a:srgbClr val="16458B"/>
          </a:solidFill>
          <a:ln w="0">
            <a:noFill/>
            <a:prstDash val="solid"/>
          </a:ln>
        </p:spPr>
      </p:sp>
      <p:sp>
        <p:nvSpPr>
          <p:cNvPr id="188" name="矩形 187"/>
          <p:cNvSpPr>
            <a:spLocks noGrp="1"/>
          </p:cNvSpPr>
          <p:nvPr/>
        </p:nvSpPr>
        <p:spPr>
          <a:xfrm>
            <a:off x="381000" y="1209675"/>
            <a:ext cx="11430000" cy="9525"/>
          </a:xfrm>
          <a:prstGeom prst="rect">
            <a:avLst/>
          </a:prstGeom>
          <a:solidFill>
            <a:srgbClr val="D7DEE9"/>
          </a:solidFill>
          <a:ln w="0">
            <a:noFill/>
            <a:prstDash val="solid"/>
          </a:ln>
        </p:spPr>
      </p:sp>
      <p:sp>
        <p:nvSpPr>
          <p:cNvPr id="189" name="内容-中国科学院大学 · 计算机图形学"/>
          <p:cNvSpPr>
            <a:spLocks noGrp="1"/>
          </p:cNvSpPr>
          <p:nvPr/>
        </p:nvSpPr>
        <p:spPr>
          <a:xfrm>
            <a:off x="381000" y="63817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中国科学院大学 · 计算机图形学</a:t>
            </a:r>
            <a:endParaRPr sz="1050" b="0">
              <a:solidFill>
                <a:srgbClr val="5965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0" name="内容-06 / 13"/>
          <p:cNvSpPr>
            <a:spLocks noGrp="1"/>
          </p:cNvSpPr>
          <p:nvPr/>
        </p:nvSpPr>
        <p:spPr>
          <a:xfrm>
            <a:off x="10763250" y="63817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05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50" b="0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1" name="内容-两个对角前景像素，边界能否只走上"/>
          <p:cNvSpPr>
            <a:spLocks noGrp="1"/>
          </p:cNvSpPr>
          <p:nvPr/>
        </p:nvSpPr>
        <p:spPr>
          <a:xfrm>
            <a:off x="381000" y="695325"/>
            <a:ext cx="11430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</a:t>
            </a:r>
            <a:r>
              <a:rPr lang="zh-CN">
                <a:sym typeface="+mn-ea"/>
              </a:rPr>
              <a:t>：</a:t>
            </a:r>
            <a:r>
              <a:rPr lang="en-US" altLang="zh-CN">
                <a:sym typeface="+mn-ea"/>
              </a:rPr>
              <a:t>8-</a:t>
            </a:r>
            <a:r>
              <a:rPr lang="zh-CN" altLang="en-US">
                <a:sym typeface="+mn-ea"/>
              </a:rPr>
              <a:t>连通前景采用</a:t>
            </a:r>
            <a:r>
              <a:rPr lang="en-US" altLang="zh-CN">
                <a:sym typeface="+mn-ea"/>
              </a:rPr>
              <a:t> 8-</a:t>
            </a:r>
            <a:r>
              <a:rPr lang="zh-CN" altLang="en-US">
                <a:sym typeface="+mn-ea"/>
              </a:rPr>
              <a:t>连通边界？</a:t>
            </a:r>
            <a:endParaRPr lang="zh-CN" sz="2550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2" name="矩形 191"/>
          <p:cNvSpPr>
            <a:spLocks noGrp="1"/>
          </p:cNvSpPr>
          <p:nvPr/>
        </p:nvSpPr>
        <p:spPr>
          <a:xfrm>
            <a:off x="809625" y="2000250"/>
            <a:ext cx="828675" cy="828675"/>
          </a:xfrm>
          <a:prstGeom prst="rect">
            <a:avLst/>
          </a:prstGeom>
          <a:solidFill>
            <a:schemeClr val="bg1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3" name="内容-1"/>
          <p:cNvSpPr>
            <a:spLocks noGrp="1"/>
          </p:cNvSpPr>
          <p:nvPr/>
        </p:nvSpPr>
        <p:spPr>
          <a:xfrm>
            <a:off x="809625" y="200025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4" name="矩形 193"/>
          <p:cNvSpPr>
            <a:spLocks noGrp="1"/>
          </p:cNvSpPr>
          <p:nvPr/>
        </p:nvSpPr>
        <p:spPr>
          <a:xfrm>
            <a:off x="1638300" y="2000250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5" name="内容-2"/>
          <p:cNvSpPr>
            <a:spLocks noGrp="1"/>
          </p:cNvSpPr>
          <p:nvPr/>
        </p:nvSpPr>
        <p:spPr>
          <a:xfrm>
            <a:off x="1638300" y="200025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6" name="矩形 195"/>
          <p:cNvSpPr>
            <a:spLocks noGrp="1"/>
          </p:cNvSpPr>
          <p:nvPr/>
        </p:nvSpPr>
        <p:spPr>
          <a:xfrm>
            <a:off x="2466975" y="2000250"/>
            <a:ext cx="828675" cy="828675"/>
          </a:xfrm>
          <a:prstGeom prst="rect">
            <a:avLst/>
          </a:prstGeom>
          <a:solidFill>
            <a:schemeClr val="bg1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7" name="内容-3"/>
          <p:cNvSpPr>
            <a:spLocks noGrp="1"/>
          </p:cNvSpPr>
          <p:nvPr/>
        </p:nvSpPr>
        <p:spPr>
          <a:xfrm>
            <a:off x="2466975" y="200025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8" name="矩形 197"/>
          <p:cNvSpPr>
            <a:spLocks noGrp="1"/>
          </p:cNvSpPr>
          <p:nvPr/>
        </p:nvSpPr>
        <p:spPr>
          <a:xfrm>
            <a:off x="3295650" y="2000250"/>
            <a:ext cx="828675" cy="8286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9" name="矩形 198"/>
          <p:cNvSpPr>
            <a:spLocks noGrp="1"/>
          </p:cNvSpPr>
          <p:nvPr/>
        </p:nvSpPr>
        <p:spPr>
          <a:xfrm>
            <a:off x="809625" y="2828925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00" name="内容-12"/>
          <p:cNvSpPr>
            <a:spLocks noGrp="1"/>
          </p:cNvSpPr>
          <p:nvPr/>
        </p:nvSpPr>
        <p:spPr>
          <a:xfrm>
            <a:off x="809625" y="282892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1" name="矩形 200"/>
          <p:cNvSpPr>
            <a:spLocks noGrp="1"/>
          </p:cNvSpPr>
          <p:nvPr/>
        </p:nvSpPr>
        <p:spPr>
          <a:xfrm>
            <a:off x="1638300" y="2828925"/>
            <a:ext cx="828675" cy="828675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02" name="内容-F"/>
          <p:cNvSpPr>
            <a:spLocks noGrp="1"/>
          </p:cNvSpPr>
          <p:nvPr/>
        </p:nvSpPr>
        <p:spPr>
          <a:xfrm>
            <a:off x="1638300" y="282892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" name="矩形 202"/>
          <p:cNvSpPr>
            <a:spLocks noGrp="1"/>
          </p:cNvSpPr>
          <p:nvPr/>
        </p:nvSpPr>
        <p:spPr>
          <a:xfrm>
            <a:off x="2466975" y="2828925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04" name="内容-4"/>
          <p:cNvSpPr>
            <a:spLocks noGrp="1"/>
          </p:cNvSpPr>
          <p:nvPr/>
        </p:nvSpPr>
        <p:spPr>
          <a:xfrm>
            <a:off x="2466975" y="282892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" name="矩形 204"/>
          <p:cNvSpPr>
            <a:spLocks noGrp="1"/>
          </p:cNvSpPr>
          <p:nvPr/>
        </p:nvSpPr>
        <p:spPr>
          <a:xfrm>
            <a:off x="3295650" y="2828925"/>
            <a:ext cx="828675" cy="828675"/>
          </a:xfrm>
          <a:prstGeom prst="rect">
            <a:avLst/>
          </a:prstGeom>
          <a:solidFill>
            <a:schemeClr val="bg1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06" name="内容-5"/>
          <p:cNvSpPr>
            <a:spLocks noGrp="1"/>
          </p:cNvSpPr>
          <p:nvPr/>
        </p:nvSpPr>
        <p:spPr>
          <a:xfrm>
            <a:off x="3295650" y="282892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7" name="矩形 206"/>
          <p:cNvSpPr>
            <a:spLocks noGrp="1"/>
          </p:cNvSpPr>
          <p:nvPr/>
        </p:nvSpPr>
        <p:spPr>
          <a:xfrm>
            <a:off x="809625" y="3657600"/>
            <a:ext cx="828675" cy="828675"/>
          </a:xfrm>
          <a:prstGeom prst="rect">
            <a:avLst/>
          </a:prstGeom>
          <a:solidFill>
            <a:schemeClr val="bg1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08" name="内容-11"/>
          <p:cNvSpPr>
            <a:spLocks noGrp="1"/>
          </p:cNvSpPr>
          <p:nvPr/>
        </p:nvSpPr>
        <p:spPr>
          <a:xfrm>
            <a:off x="809625" y="365760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9" name="矩形 208"/>
          <p:cNvSpPr>
            <a:spLocks noGrp="1"/>
          </p:cNvSpPr>
          <p:nvPr/>
        </p:nvSpPr>
        <p:spPr>
          <a:xfrm>
            <a:off x="1638300" y="3657600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0" name="内容-10"/>
          <p:cNvSpPr>
            <a:spLocks noGrp="1"/>
          </p:cNvSpPr>
          <p:nvPr/>
        </p:nvSpPr>
        <p:spPr>
          <a:xfrm>
            <a:off x="1638300" y="365760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1" name="矩形 210"/>
          <p:cNvSpPr>
            <a:spLocks noGrp="1"/>
          </p:cNvSpPr>
          <p:nvPr/>
        </p:nvSpPr>
        <p:spPr>
          <a:xfrm>
            <a:off x="2466975" y="3657600"/>
            <a:ext cx="828675" cy="828675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2" name="内容-F"/>
          <p:cNvSpPr>
            <a:spLocks noGrp="1"/>
          </p:cNvSpPr>
          <p:nvPr/>
        </p:nvSpPr>
        <p:spPr>
          <a:xfrm>
            <a:off x="2466975" y="365760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3" name="矩形 212"/>
          <p:cNvSpPr>
            <a:spLocks noGrp="1"/>
          </p:cNvSpPr>
          <p:nvPr/>
        </p:nvSpPr>
        <p:spPr>
          <a:xfrm>
            <a:off x="3295650" y="3657600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4" name="内容-6"/>
          <p:cNvSpPr>
            <a:spLocks noGrp="1"/>
          </p:cNvSpPr>
          <p:nvPr/>
        </p:nvSpPr>
        <p:spPr>
          <a:xfrm>
            <a:off x="3295650" y="365760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5" name="矩形 214"/>
          <p:cNvSpPr>
            <a:spLocks noGrp="1"/>
          </p:cNvSpPr>
          <p:nvPr/>
        </p:nvSpPr>
        <p:spPr>
          <a:xfrm>
            <a:off x="809625" y="4486275"/>
            <a:ext cx="828675" cy="8286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6" name="矩形 215"/>
          <p:cNvSpPr>
            <a:spLocks noGrp="1"/>
          </p:cNvSpPr>
          <p:nvPr/>
        </p:nvSpPr>
        <p:spPr>
          <a:xfrm>
            <a:off x="1638300" y="4486275"/>
            <a:ext cx="828675" cy="828675"/>
          </a:xfrm>
          <a:prstGeom prst="rect">
            <a:avLst/>
          </a:prstGeom>
          <a:solidFill>
            <a:schemeClr val="bg1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7" name="内容-9"/>
          <p:cNvSpPr>
            <a:spLocks noGrp="1"/>
          </p:cNvSpPr>
          <p:nvPr/>
        </p:nvSpPr>
        <p:spPr>
          <a:xfrm>
            <a:off x="1638300" y="448627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8" name="矩形 217"/>
          <p:cNvSpPr>
            <a:spLocks noGrp="1"/>
          </p:cNvSpPr>
          <p:nvPr/>
        </p:nvSpPr>
        <p:spPr>
          <a:xfrm>
            <a:off x="2466975" y="4486275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9" name="内容-8"/>
          <p:cNvSpPr>
            <a:spLocks noGrp="1"/>
          </p:cNvSpPr>
          <p:nvPr/>
        </p:nvSpPr>
        <p:spPr>
          <a:xfrm>
            <a:off x="2466975" y="448627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0" name="矩形 219"/>
          <p:cNvSpPr>
            <a:spLocks noGrp="1"/>
          </p:cNvSpPr>
          <p:nvPr/>
        </p:nvSpPr>
        <p:spPr>
          <a:xfrm>
            <a:off x="3295650" y="4486275"/>
            <a:ext cx="828675" cy="828675"/>
          </a:xfrm>
          <a:prstGeom prst="rect">
            <a:avLst/>
          </a:prstGeom>
          <a:solidFill>
            <a:schemeClr val="bg1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21" name="内容-7"/>
          <p:cNvSpPr>
            <a:spLocks noGrp="1"/>
          </p:cNvSpPr>
          <p:nvPr/>
        </p:nvSpPr>
        <p:spPr>
          <a:xfrm>
            <a:off x="3295650" y="448627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2" name="内容-先看紫色前景"/>
          <p:cNvSpPr>
            <a:spLocks noGrp="1"/>
          </p:cNvSpPr>
          <p:nvPr/>
        </p:nvSpPr>
        <p:spPr>
          <a:xfrm>
            <a:off x="5095875" y="1666875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先看紫色前景</a:t>
            </a:r>
            <a:endParaRPr sz="2175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3" name="内容-两点对角相邻：8-连通，但不 4"/>
          <p:cNvSpPr>
            <a:spLocks noGrp="1"/>
          </p:cNvSpPr>
          <p:nvPr/>
        </p:nvSpPr>
        <p:spPr>
          <a:xfrm>
            <a:off x="5095875" y="2095500"/>
            <a:ext cx="619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两点对角相邻：8-连通，但不 4-连通。</a:t>
            </a:r>
            <a:endParaRPr sz="1875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4" name="内容-再选橙色边界 B₈"/>
          <p:cNvSpPr>
            <a:spLocks noGrp="1"/>
          </p:cNvSpPr>
          <p:nvPr/>
        </p:nvSpPr>
        <p:spPr>
          <a:xfrm>
            <a:off x="5095875" y="3000375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再选橙色边界 B₈</a:t>
            </a:r>
            <a:endParaRPr sz="2175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5" name="内容-选入与前景共边或共角的背景像素。"/>
          <p:cNvSpPr>
            <a:spLocks noGrp="1"/>
          </p:cNvSpPr>
          <p:nvPr/>
        </p:nvSpPr>
        <p:spPr>
          <a:xfrm>
            <a:off x="5095875" y="3429000"/>
            <a:ext cx="619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选入与前景共边或共角的背景像素。</a:t>
            </a:r>
            <a:endParaRPr sz="1875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6" name="内容-最后沿橙色编号走"/>
          <p:cNvSpPr>
            <a:spLocks noGrp="1"/>
          </p:cNvSpPr>
          <p:nvPr/>
        </p:nvSpPr>
        <p:spPr>
          <a:xfrm>
            <a:off x="5095875" y="4286250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最后沿橙色编号走</a:t>
            </a:r>
            <a:endParaRPr sz="2175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7" name="内容-1 → 2 → … → 12 →"/>
          <p:cNvSpPr>
            <a:spLocks noGrp="1"/>
          </p:cNvSpPr>
          <p:nvPr/>
        </p:nvSpPr>
        <p:spPr>
          <a:xfrm>
            <a:off x="5095875" y="4714875"/>
            <a:ext cx="6191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→ 2 → … → 12 → 1</a:t>
            </a:r>
            <a:endParaRPr sz="1875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相邻编号全都共边，因此边界 4-连通。</a:t>
            </a:r>
            <a:endParaRPr sz="1875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8" name="内容-本页是实例验证；一般结论还需要证"/>
          <p:cNvSpPr>
            <a:spLocks noGrp="1"/>
          </p:cNvSpPr>
          <p:nvPr/>
        </p:nvSpPr>
        <p:spPr>
          <a:xfrm>
            <a:off x="809625" y="5857875"/>
            <a:ext cx="10668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50" b="0">
              <a:solidFill>
                <a:srgbClr val="5965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6" name="矩形 18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87" name="矩形 186"/>
          <p:cNvSpPr>
            <a:spLocks noGrp="1"/>
          </p:cNvSpPr>
          <p:nvPr/>
        </p:nvSpPr>
        <p:spPr>
          <a:xfrm>
            <a:off x="381000" y="457200"/>
            <a:ext cx="11430000" cy="66675"/>
          </a:xfrm>
          <a:prstGeom prst="rect">
            <a:avLst/>
          </a:prstGeom>
          <a:solidFill>
            <a:srgbClr val="16458B"/>
          </a:solidFill>
          <a:ln w="0">
            <a:noFill/>
            <a:prstDash val="solid"/>
          </a:ln>
        </p:spPr>
      </p:sp>
      <p:sp>
        <p:nvSpPr>
          <p:cNvPr id="188" name="矩形 187"/>
          <p:cNvSpPr>
            <a:spLocks noGrp="1"/>
          </p:cNvSpPr>
          <p:nvPr/>
        </p:nvSpPr>
        <p:spPr>
          <a:xfrm>
            <a:off x="381000" y="1209675"/>
            <a:ext cx="11430000" cy="9525"/>
          </a:xfrm>
          <a:prstGeom prst="rect">
            <a:avLst/>
          </a:prstGeom>
          <a:solidFill>
            <a:srgbClr val="D7DEE9"/>
          </a:solidFill>
          <a:ln w="0">
            <a:noFill/>
            <a:prstDash val="solid"/>
          </a:ln>
        </p:spPr>
      </p:sp>
      <p:sp>
        <p:nvSpPr>
          <p:cNvPr id="189" name="内容-中国科学院大学 · 计算机图形学"/>
          <p:cNvSpPr>
            <a:spLocks noGrp="1"/>
          </p:cNvSpPr>
          <p:nvPr/>
        </p:nvSpPr>
        <p:spPr>
          <a:xfrm>
            <a:off x="381000" y="63817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50" b="0">
              <a:solidFill>
                <a:srgbClr val="5965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0" name="内容-06 / 13"/>
          <p:cNvSpPr>
            <a:spLocks noGrp="1"/>
          </p:cNvSpPr>
          <p:nvPr/>
        </p:nvSpPr>
        <p:spPr>
          <a:xfrm>
            <a:off x="10763250" y="63817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05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13</a:t>
            </a:r>
            <a:endParaRPr sz="1050" b="0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1" name="内容-两个对角前景像素，边界能否只走上"/>
          <p:cNvSpPr>
            <a:spLocks noGrp="1"/>
          </p:cNvSpPr>
          <p:nvPr/>
        </p:nvSpPr>
        <p:spPr>
          <a:xfrm>
            <a:off x="381000" y="695325"/>
            <a:ext cx="11430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</a:t>
            </a:r>
            <a:r>
              <a:rPr lang="zh-CN">
                <a:sym typeface="+mn-ea"/>
              </a:rPr>
              <a:t>：</a:t>
            </a:r>
            <a:r>
              <a:rPr lang="en-US" altLang="zh-CN">
                <a:sym typeface="+mn-ea"/>
              </a:rPr>
              <a:t>8-</a:t>
            </a:r>
            <a:r>
              <a:rPr lang="zh-CN" altLang="en-US">
                <a:sym typeface="+mn-ea"/>
              </a:rPr>
              <a:t>连通前景采用</a:t>
            </a:r>
            <a:r>
              <a:rPr lang="en-US" altLang="zh-CN">
                <a:sym typeface="+mn-ea"/>
              </a:rPr>
              <a:t> 8-</a:t>
            </a:r>
            <a:r>
              <a:rPr lang="zh-CN" altLang="en-US">
                <a:sym typeface="+mn-ea"/>
              </a:rPr>
              <a:t>连通边界？</a:t>
            </a:r>
            <a:endParaRPr lang="zh-CN" sz="2550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2" name="矩形 191"/>
          <p:cNvSpPr>
            <a:spLocks noGrp="1"/>
          </p:cNvSpPr>
          <p:nvPr/>
        </p:nvSpPr>
        <p:spPr>
          <a:xfrm>
            <a:off x="809625" y="2000250"/>
            <a:ext cx="828675" cy="828675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3" name="内容-1"/>
          <p:cNvSpPr>
            <a:spLocks noGrp="1"/>
          </p:cNvSpPr>
          <p:nvPr/>
        </p:nvSpPr>
        <p:spPr>
          <a:xfrm>
            <a:off x="809625" y="200025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4" name="矩形 193"/>
          <p:cNvSpPr>
            <a:spLocks noGrp="1"/>
          </p:cNvSpPr>
          <p:nvPr/>
        </p:nvSpPr>
        <p:spPr>
          <a:xfrm>
            <a:off x="1638300" y="2000250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5" name="内容-2"/>
          <p:cNvSpPr>
            <a:spLocks noGrp="1"/>
          </p:cNvSpPr>
          <p:nvPr/>
        </p:nvSpPr>
        <p:spPr>
          <a:xfrm>
            <a:off x="1638300" y="200025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6" name="矩形 195"/>
          <p:cNvSpPr>
            <a:spLocks noGrp="1"/>
          </p:cNvSpPr>
          <p:nvPr/>
        </p:nvSpPr>
        <p:spPr>
          <a:xfrm>
            <a:off x="2466975" y="2000250"/>
            <a:ext cx="828675" cy="828675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7" name="内容-3"/>
          <p:cNvSpPr>
            <a:spLocks noGrp="1"/>
          </p:cNvSpPr>
          <p:nvPr/>
        </p:nvSpPr>
        <p:spPr>
          <a:xfrm>
            <a:off x="2466975" y="200025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8" name="矩形 197"/>
          <p:cNvSpPr>
            <a:spLocks noGrp="1"/>
          </p:cNvSpPr>
          <p:nvPr/>
        </p:nvSpPr>
        <p:spPr>
          <a:xfrm>
            <a:off x="3295650" y="2000250"/>
            <a:ext cx="828675" cy="8286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199" name="矩形 198"/>
          <p:cNvSpPr>
            <a:spLocks noGrp="1"/>
          </p:cNvSpPr>
          <p:nvPr/>
        </p:nvSpPr>
        <p:spPr>
          <a:xfrm>
            <a:off x="809625" y="2828925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00" name="内容-12"/>
          <p:cNvSpPr>
            <a:spLocks noGrp="1"/>
          </p:cNvSpPr>
          <p:nvPr/>
        </p:nvSpPr>
        <p:spPr>
          <a:xfrm>
            <a:off x="809625" y="282892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1" name="矩形 200"/>
          <p:cNvSpPr>
            <a:spLocks noGrp="1"/>
          </p:cNvSpPr>
          <p:nvPr/>
        </p:nvSpPr>
        <p:spPr>
          <a:xfrm>
            <a:off x="1638300" y="2828925"/>
            <a:ext cx="828675" cy="828675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02" name="内容-F"/>
          <p:cNvSpPr>
            <a:spLocks noGrp="1"/>
          </p:cNvSpPr>
          <p:nvPr/>
        </p:nvSpPr>
        <p:spPr>
          <a:xfrm>
            <a:off x="1638300" y="282892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" name="矩形 202"/>
          <p:cNvSpPr>
            <a:spLocks noGrp="1"/>
          </p:cNvSpPr>
          <p:nvPr/>
        </p:nvSpPr>
        <p:spPr>
          <a:xfrm>
            <a:off x="2466975" y="2828925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04" name="内容-4"/>
          <p:cNvSpPr>
            <a:spLocks noGrp="1"/>
          </p:cNvSpPr>
          <p:nvPr/>
        </p:nvSpPr>
        <p:spPr>
          <a:xfrm>
            <a:off x="2466975" y="282892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" name="矩形 204"/>
          <p:cNvSpPr>
            <a:spLocks noGrp="1"/>
          </p:cNvSpPr>
          <p:nvPr/>
        </p:nvSpPr>
        <p:spPr>
          <a:xfrm>
            <a:off x="3295650" y="2828925"/>
            <a:ext cx="828675" cy="828675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06" name="内容-5"/>
          <p:cNvSpPr>
            <a:spLocks noGrp="1"/>
          </p:cNvSpPr>
          <p:nvPr/>
        </p:nvSpPr>
        <p:spPr>
          <a:xfrm>
            <a:off x="3295650" y="282892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7" name="矩形 206"/>
          <p:cNvSpPr>
            <a:spLocks noGrp="1"/>
          </p:cNvSpPr>
          <p:nvPr/>
        </p:nvSpPr>
        <p:spPr>
          <a:xfrm>
            <a:off x="809625" y="3657600"/>
            <a:ext cx="828675" cy="828675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08" name="内容-11"/>
          <p:cNvSpPr>
            <a:spLocks noGrp="1"/>
          </p:cNvSpPr>
          <p:nvPr/>
        </p:nvSpPr>
        <p:spPr>
          <a:xfrm>
            <a:off x="809625" y="365760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9" name="矩形 208"/>
          <p:cNvSpPr>
            <a:spLocks noGrp="1"/>
          </p:cNvSpPr>
          <p:nvPr/>
        </p:nvSpPr>
        <p:spPr>
          <a:xfrm>
            <a:off x="1638300" y="3657600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0" name="内容-10"/>
          <p:cNvSpPr>
            <a:spLocks noGrp="1"/>
          </p:cNvSpPr>
          <p:nvPr/>
        </p:nvSpPr>
        <p:spPr>
          <a:xfrm>
            <a:off x="1638300" y="365760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1" name="矩形 210"/>
          <p:cNvSpPr>
            <a:spLocks noGrp="1"/>
          </p:cNvSpPr>
          <p:nvPr/>
        </p:nvSpPr>
        <p:spPr>
          <a:xfrm>
            <a:off x="2466975" y="3657600"/>
            <a:ext cx="828675" cy="828675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2" name="内容-F"/>
          <p:cNvSpPr>
            <a:spLocks noGrp="1"/>
          </p:cNvSpPr>
          <p:nvPr/>
        </p:nvSpPr>
        <p:spPr>
          <a:xfrm>
            <a:off x="2466975" y="365760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3" name="矩形 212"/>
          <p:cNvSpPr>
            <a:spLocks noGrp="1"/>
          </p:cNvSpPr>
          <p:nvPr/>
        </p:nvSpPr>
        <p:spPr>
          <a:xfrm>
            <a:off x="3295650" y="3657600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4" name="内容-6"/>
          <p:cNvSpPr>
            <a:spLocks noGrp="1"/>
          </p:cNvSpPr>
          <p:nvPr/>
        </p:nvSpPr>
        <p:spPr>
          <a:xfrm>
            <a:off x="3295650" y="3657600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5" name="矩形 214"/>
          <p:cNvSpPr>
            <a:spLocks noGrp="1"/>
          </p:cNvSpPr>
          <p:nvPr/>
        </p:nvSpPr>
        <p:spPr>
          <a:xfrm>
            <a:off x="809625" y="4486275"/>
            <a:ext cx="828675" cy="828675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6" name="矩形 215"/>
          <p:cNvSpPr>
            <a:spLocks noGrp="1"/>
          </p:cNvSpPr>
          <p:nvPr/>
        </p:nvSpPr>
        <p:spPr>
          <a:xfrm>
            <a:off x="1638300" y="4486275"/>
            <a:ext cx="828675" cy="828675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7" name="内容-9"/>
          <p:cNvSpPr>
            <a:spLocks noGrp="1"/>
          </p:cNvSpPr>
          <p:nvPr/>
        </p:nvSpPr>
        <p:spPr>
          <a:xfrm>
            <a:off x="1638300" y="448627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8" name="矩形 217"/>
          <p:cNvSpPr>
            <a:spLocks noGrp="1"/>
          </p:cNvSpPr>
          <p:nvPr/>
        </p:nvSpPr>
        <p:spPr>
          <a:xfrm>
            <a:off x="2466975" y="4486275"/>
            <a:ext cx="828675" cy="828675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19" name="内容-8"/>
          <p:cNvSpPr>
            <a:spLocks noGrp="1"/>
          </p:cNvSpPr>
          <p:nvPr/>
        </p:nvSpPr>
        <p:spPr>
          <a:xfrm>
            <a:off x="2466975" y="448627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0" name="矩形 219"/>
          <p:cNvSpPr>
            <a:spLocks noGrp="1"/>
          </p:cNvSpPr>
          <p:nvPr/>
        </p:nvSpPr>
        <p:spPr>
          <a:xfrm>
            <a:off x="3295650" y="4486275"/>
            <a:ext cx="828675" cy="828675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21" name="内容-7"/>
          <p:cNvSpPr>
            <a:spLocks noGrp="1"/>
          </p:cNvSpPr>
          <p:nvPr/>
        </p:nvSpPr>
        <p:spPr>
          <a:xfrm>
            <a:off x="3295650" y="4486275"/>
            <a:ext cx="8286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2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222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8" name="内容-本页是实例验证；一般结论还需要证"/>
          <p:cNvSpPr>
            <a:spLocks noGrp="1"/>
          </p:cNvSpPr>
          <p:nvPr/>
        </p:nvSpPr>
        <p:spPr>
          <a:xfrm>
            <a:off x="809625" y="5857875"/>
            <a:ext cx="10668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50" b="0">
              <a:solidFill>
                <a:srgbClr val="5965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乘号 1"/>
          <p:cNvSpPr/>
          <p:nvPr/>
        </p:nvSpPr>
        <p:spPr>
          <a:xfrm>
            <a:off x="1918970" y="1595120"/>
            <a:ext cx="1376680" cy="1233805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963795" y="1209675"/>
            <a:ext cx="5918835" cy="48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8-连通前景的种子填充算法</a:t>
            </a:r>
            <a:endParaRPr lang="zh-CN" altLang="en-US" sz="2550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01515" y="1595120"/>
            <a:ext cx="739457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Fill_Boundary_8_Connected(x, y, BoundaryColor, InteriorColor)</a:t>
            </a:r>
            <a:endParaRPr lang="en-US" altLang="zh-CN"/>
          </a:p>
          <a:p>
            <a:r>
              <a:rPr lang="en-US" altLang="zh-CN"/>
              <a:t>{</a:t>
            </a:r>
            <a:endParaRPr lang="en-US" altLang="zh-CN"/>
          </a:p>
          <a:p>
            <a:r>
              <a:rPr lang="en-US" altLang="zh-CN"/>
              <a:t>    if (GetPixel(x, y) != BoundaryColor &amp;&amp; GetPixel(x, y) != InteriorColor)</a:t>
            </a:r>
            <a:endParaRPr lang="en-US" altLang="zh-CN"/>
          </a:p>
          <a:p>
            <a:r>
              <a:rPr lang="en-US" altLang="zh-CN"/>
              <a:t>    {</a:t>
            </a:r>
            <a:endParaRPr lang="en-US" altLang="zh-CN"/>
          </a:p>
          <a:p>
            <a:r>
              <a:rPr lang="en-US" altLang="zh-CN"/>
              <a:t>        SetPixel(x, y, InteriorColor); </a:t>
            </a:r>
            <a:r>
              <a:rPr lang="zh-CN" altLang="en-US"/>
              <a:t>        </a:t>
            </a:r>
            <a:endParaRPr lang="zh-CN" altLang="en-US"/>
          </a:p>
          <a:p>
            <a:r>
              <a:rPr lang="en-US" altLang="zh-CN"/>
              <a:t>        Fill_Boundary_8_Connected(x, y + 1, BoundaryColor, InteriorColor);</a:t>
            </a:r>
            <a:endParaRPr lang="en-US" altLang="zh-CN"/>
          </a:p>
          <a:p>
            <a:r>
              <a:rPr lang="en-US" altLang="zh-CN"/>
              <a:t>        Fill_Boundary_8_Connected(x, y - 1, BoundaryColor, InteriorColor);</a:t>
            </a:r>
            <a:endParaRPr lang="en-US" altLang="zh-CN"/>
          </a:p>
          <a:p>
            <a:r>
              <a:rPr lang="en-US" altLang="zh-CN"/>
              <a:t>        Fill_Boundary_8_Connected(x - 1, y, BoundaryColor, InteriorColor);</a:t>
            </a:r>
            <a:endParaRPr lang="en-US" altLang="zh-CN"/>
          </a:p>
          <a:p>
            <a:r>
              <a:rPr lang="en-US" altLang="zh-CN"/>
              <a:t>        Fill_Boundary_8_Connected(x + 1, y, BoundaryColor, InteriorColor);</a:t>
            </a:r>
            <a:endParaRPr lang="en-US" altLang="zh-CN"/>
          </a:p>
          <a:p>
            <a:r>
              <a:rPr lang="en-US" altLang="zh-CN"/>
              <a:t>        </a:t>
            </a:r>
            <a:r>
              <a:rPr lang="en-US" altLang="zh-CN" b="1">
                <a:solidFill>
                  <a:srgbClr val="FF0000"/>
                </a:solidFill>
              </a:rPr>
              <a:t>Fill_Boundary_8_Connected(x - 1, y - 1, BoundaryColor, InteriorColor); </a:t>
            </a:r>
            <a:endParaRPr lang="zh-CN" altLang="en-US" b="1">
              <a:solidFill>
                <a:srgbClr val="FF0000"/>
              </a:solidFill>
            </a:endParaRPr>
          </a:p>
          <a:p>
            <a:r>
              <a:rPr lang="en-US" altLang="zh-CN" b="1">
                <a:solidFill>
                  <a:srgbClr val="FF0000"/>
                </a:solidFill>
              </a:rPr>
              <a:t>        Fill_Boundary_8_Connected(x - 1, y + 1, BoundaryColor, InteriorColor); // </a:t>
            </a:r>
            <a:r>
              <a:rPr lang="zh-CN" altLang="en-US" b="1">
                <a:solidFill>
                  <a:srgbClr val="FF0000"/>
                </a:solidFill>
              </a:rPr>
              <a:t>左上</a:t>
            </a:r>
            <a:endParaRPr lang="zh-CN" altLang="en-US" b="1">
              <a:solidFill>
                <a:srgbClr val="FF0000"/>
              </a:solidFill>
            </a:endParaRPr>
          </a:p>
          <a:p>
            <a:r>
              <a:rPr lang="en-US" altLang="zh-CN" b="1">
                <a:solidFill>
                  <a:srgbClr val="FF0000"/>
                </a:solidFill>
              </a:rPr>
              <a:t>        Fill_Boundary_8_Connected(x + 1, y - 1, BoundaryColor, InteriorColor); // </a:t>
            </a:r>
            <a:r>
              <a:rPr lang="zh-CN" altLang="en-US" b="1">
                <a:solidFill>
                  <a:srgbClr val="FF0000"/>
                </a:solidFill>
              </a:rPr>
              <a:t>右下</a:t>
            </a:r>
            <a:endParaRPr lang="zh-CN" altLang="en-US" b="1">
              <a:solidFill>
                <a:srgbClr val="FF0000"/>
              </a:solidFill>
            </a:endParaRPr>
          </a:p>
          <a:p>
            <a:r>
              <a:rPr lang="en-US" altLang="zh-CN" b="1">
                <a:solidFill>
                  <a:srgbClr val="FF0000"/>
                </a:solidFill>
              </a:rPr>
              <a:t>        Fill_Boundary_8_Connected(x + 1, y + 1, BoundaryColor, InteriorColor); // </a:t>
            </a:r>
            <a:r>
              <a:rPr lang="zh-CN" altLang="en-US" b="1">
                <a:solidFill>
                  <a:srgbClr val="FF0000"/>
                </a:solidFill>
              </a:rPr>
              <a:t>右上</a:t>
            </a:r>
            <a:endParaRPr lang="zh-CN" altLang="en-US" b="1">
              <a:solidFill>
                <a:srgbClr val="FF0000"/>
              </a:solidFill>
            </a:endParaRPr>
          </a:p>
          <a:p>
            <a:r>
              <a:rPr lang="en-US" altLang="zh-CN"/>
              <a:t>    }</a:t>
            </a:r>
            <a:endParaRPr lang="en-US" altLang="zh-CN"/>
          </a:p>
          <a:p>
            <a:r>
              <a:rPr lang="en-US" altLang="zh-CN"/>
              <a:t>}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3" name="矩形 20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204" name="图片 20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0" y="4000500"/>
            <a:ext cx="2857500" cy="2667000"/>
          </a:xfrm>
          <a:prstGeom prst="rect">
            <a:avLst/>
          </a:prstGeom>
        </p:spPr>
      </p:pic>
      <p:sp>
        <p:nvSpPr>
          <p:cNvPr id="205" name="文本框 204"/>
          <p:cNvSpPr>
            <a:spLocks noGrp="1"/>
          </p:cNvSpPr>
          <p:nvPr/>
        </p:nvSpPr>
        <p:spPr>
          <a:xfrm>
            <a:off x="571500" y="1828800"/>
            <a:ext cx="4000500" cy="3200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1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1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6" name="文本框 205"/>
          <p:cNvSpPr>
            <a:spLocks noGrp="1"/>
          </p:cNvSpPr>
          <p:nvPr/>
        </p:nvSpPr>
        <p:spPr>
          <a:xfrm>
            <a:off x="4572000" y="1562100"/>
            <a:ext cx="6953250" cy="504825"/>
          </a:xfrm>
          <a:prstGeom prst="rect">
            <a:avLst/>
          </a:prstGeom>
        </p:spPr>
        <p:txBody>
          <a:bodyPr lIns="0" tIns="0" rIns="0" bIns="0"/>
          <a:lstStyle>
            <a:defPPr>
              <a:defRPr sz="300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00000"/>
              </a:lnSpc>
              <a:buNone/>
              <a:defRPr sz="300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为什么采用互补邻接</a:t>
            </a:r>
            <a:endParaRPr sz="33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7" name="圆角矩形 206"/>
          <p:cNvSpPr>
            <a:spLocks noGrp="1"/>
          </p:cNvSpPr>
          <p:nvPr/>
        </p:nvSpPr>
        <p:spPr>
          <a:xfrm>
            <a:off x="4572000" y="2276475"/>
            <a:ext cx="68580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</p:spPr>
        <p:txBody>
          <a:bodyPr/>
          <a:lstStyle/>
          <a:p/>
        </p:txBody>
      </p:sp>
      <p:sp>
        <p:nvSpPr>
          <p:cNvPr id="208" name="圆角矩形 207"/>
          <p:cNvSpPr>
            <a:spLocks noGrp="1"/>
          </p:cNvSpPr>
          <p:nvPr/>
        </p:nvSpPr>
        <p:spPr>
          <a:xfrm>
            <a:off x="4572000" y="2686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09" name="文本框 208"/>
          <p:cNvSpPr>
            <a:spLocks noGrp="1"/>
          </p:cNvSpPr>
          <p:nvPr/>
        </p:nvSpPr>
        <p:spPr>
          <a:xfrm>
            <a:off x="4762500" y="2600325"/>
            <a:ext cx="6572250" cy="428625"/>
          </a:xfrm>
          <a:prstGeom prst="rect">
            <a:avLst/>
          </a:prstGeom>
        </p:spPr>
        <p:txBody>
          <a:bodyPr lIns="0" tIns="0" rIns="0" bIns="0"/>
          <a:lstStyle>
            <a:defPPr>
              <a:defRPr sz="195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55000"/>
              </a:lnSpc>
              <a:buNone/>
              <a:defRPr sz="195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填色只能进入非边界像素。</a:t>
            </a:r>
            <a:endParaRPr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0" name="圆角矩形 209"/>
          <p:cNvSpPr>
            <a:spLocks noGrp="1"/>
          </p:cNvSpPr>
          <p:nvPr/>
        </p:nvSpPr>
        <p:spPr>
          <a:xfrm>
            <a:off x="4572000" y="31908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11" name="文本框 210"/>
          <p:cNvSpPr>
            <a:spLocks noGrp="1"/>
          </p:cNvSpPr>
          <p:nvPr/>
        </p:nvSpPr>
        <p:spPr>
          <a:xfrm>
            <a:off x="4762500" y="3105150"/>
            <a:ext cx="6572250" cy="428625"/>
          </a:xfrm>
          <a:prstGeom prst="rect">
            <a:avLst/>
          </a:prstGeom>
        </p:spPr>
        <p:txBody>
          <a:bodyPr lIns="0" tIns="0" rIns="0" bIns="0"/>
          <a:lstStyle>
            <a:defPPr>
              <a:defRPr sz="195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55000"/>
              </a:lnSpc>
              <a:buNone/>
              <a:defRPr sz="195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四方向与八方向允许的路径不同。</a:t>
            </a:r>
            <a:endParaRPr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2" name="圆角矩形 211"/>
          <p:cNvSpPr>
            <a:spLocks noGrp="1"/>
          </p:cNvSpPr>
          <p:nvPr/>
        </p:nvSpPr>
        <p:spPr>
          <a:xfrm>
            <a:off x="4572000" y="3695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13" name="文本框 212"/>
          <p:cNvSpPr>
            <a:spLocks noGrp="1"/>
          </p:cNvSpPr>
          <p:nvPr/>
        </p:nvSpPr>
        <p:spPr>
          <a:xfrm>
            <a:off x="4762500" y="3609975"/>
            <a:ext cx="6572250" cy="428625"/>
          </a:xfrm>
          <a:prstGeom prst="rect">
            <a:avLst/>
          </a:prstGeom>
        </p:spPr>
        <p:txBody>
          <a:bodyPr lIns="0" tIns="0" rIns="0" bIns="0"/>
          <a:lstStyle>
            <a:defPPr>
              <a:defRPr sz="195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55000"/>
              </a:lnSpc>
              <a:buNone/>
              <a:defRPr sz="195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对角接触处决定区域是否会漏到外部。</a:t>
            </a:r>
            <a:endParaRPr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4" name="圆角矩形 213"/>
          <p:cNvSpPr>
            <a:spLocks noGrp="1"/>
          </p:cNvSpPr>
          <p:nvPr/>
        </p:nvSpPr>
        <p:spPr>
          <a:xfrm>
            <a:off x="4610100" y="4352925"/>
            <a:ext cx="6953250" cy="942975"/>
          </a:xfrm>
          <a:prstGeom prst="roundRect">
            <a:avLst>
              <a:gd name="adj" fmla="val 10101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215" name="任意多边形 214"/>
          <p:cNvSpPr>
            <a:spLocks noGrp="1"/>
          </p:cNvSpPr>
          <p:nvPr/>
        </p:nvSpPr>
        <p:spPr>
          <a:xfrm>
            <a:off x="4610100" y="4352925"/>
            <a:ext cx="6953250" cy="942975"/>
          </a:xfrm>
          <a:custGeom>
            <a:avLst/>
            <a:gdLst/>
            <a:ahLst/>
            <a:cxnLst/>
            <a:pathLst>
              <a:path w="730" h="9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3"/>
                </a:lnTo>
                <a:cubicBezTo>
                  <a:pt x="4" y="96"/>
                  <a:pt x="6" y="98"/>
                  <a:pt x="9" y="99"/>
                </a:cubicBezTo>
                <a:cubicBezTo>
                  <a:pt x="4" y="98"/>
                  <a:pt x="0" y="94"/>
                  <a:pt x="0" y="8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16" name="文本框 215"/>
          <p:cNvSpPr>
            <a:spLocks noGrp="1"/>
          </p:cNvSpPr>
          <p:nvPr/>
        </p:nvSpPr>
        <p:spPr>
          <a:xfrm>
            <a:off x="4819650" y="4505325"/>
            <a:ext cx="6496050" cy="638175"/>
          </a:xfrm>
          <a:prstGeom prst="rect">
            <a:avLst/>
          </a:prstGeom>
        </p:spPr>
        <p:txBody>
          <a:bodyPr lIns="0" tIns="0" rIns="0" bIns="0">
            <a:normAutofit fontScale="72043"/>
          </a:bodyPr>
          <a:lstStyle>
            <a:defPPr>
              <a:defRPr sz="187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55000"/>
              </a:lnSpc>
              <a:buNone/>
              <a:defRPr sz="187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在方格像素模型中，用 (4,8) 或 (8,4)</a:t>
            </a:r>
            <a:endParaRPr sz="135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5000"/>
              </a:lnSpc>
              <a:buNone/>
              <a:defRPr sz="187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配对，保持前景与背景的分离关系。</a:t>
            </a:r>
            <a:endParaRPr sz="135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8" name="矩形 21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19" name="矩形 218"/>
          <p:cNvSpPr>
            <a:spLocks noGrp="1"/>
          </p:cNvSpPr>
          <p:nvPr/>
        </p:nvSpPr>
        <p:spPr>
          <a:xfrm>
            <a:off x="381000" y="457200"/>
            <a:ext cx="11430000" cy="66675"/>
          </a:xfrm>
          <a:prstGeom prst="rect">
            <a:avLst/>
          </a:prstGeom>
          <a:solidFill>
            <a:srgbClr val="16458B"/>
          </a:solidFill>
          <a:ln w="0">
            <a:noFill/>
            <a:prstDash val="solid"/>
          </a:ln>
        </p:spPr>
      </p:sp>
      <p:sp>
        <p:nvSpPr>
          <p:cNvPr id="220" name="矩形 219"/>
          <p:cNvSpPr>
            <a:spLocks noGrp="1"/>
          </p:cNvSpPr>
          <p:nvPr/>
        </p:nvSpPr>
        <p:spPr>
          <a:xfrm>
            <a:off x="381000" y="1209675"/>
            <a:ext cx="11430000" cy="9525"/>
          </a:xfrm>
          <a:prstGeom prst="rect">
            <a:avLst/>
          </a:prstGeom>
          <a:solidFill>
            <a:srgbClr val="D7DEE9"/>
          </a:solidFill>
          <a:ln w="0">
            <a:noFill/>
            <a:prstDash val="solid"/>
          </a:ln>
        </p:spPr>
      </p:sp>
      <p:sp>
        <p:nvSpPr>
          <p:cNvPr id="221" name="内容-中国科学院大学 · 计算机图形学"/>
          <p:cNvSpPr>
            <a:spLocks noGrp="1"/>
          </p:cNvSpPr>
          <p:nvPr/>
        </p:nvSpPr>
        <p:spPr>
          <a:xfrm>
            <a:off x="381000" y="63817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50" b="0">
              <a:solidFill>
                <a:srgbClr val="5965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2" name="内容-08 / 13"/>
          <p:cNvSpPr>
            <a:spLocks noGrp="1"/>
          </p:cNvSpPr>
          <p:nvPr/>
        </p:nvSpPr>
        <p:spPr>
          <a:xfrm>
            <a:off x="10763250" y="63817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05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50" b="0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3" name="内容-同一圈边界：4-填充被挡住，8-"/>
          <p:cNvSpPr>
            <a:spLocks noGrp="1"/>
          </p:cNvSpPr>
          <p:nvPr/>
        </p:nvSpPr>
        <p:spPr>
          <a:xfrm>
            <a:off x="381000" y="695325"/>
            <a:ext cx="11430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同一圈边界：4-填充被挡住，8-填充会漏出</a:t>
            </a:r>
            <a:endParaRPr sz="2550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4" name="矩形 22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09625" y="2400300"/>
            <a:ext cx="8001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25" name="矩形 22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609725" y="2400300"/>
            <a:ext cx="800100" cy="80010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26" name="矩形 22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409825" y="2400300"/>
            <a:ext cx="8001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27" name="矩形 22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09625" y="3200400"/>
            <a:ext cx="800100" cy="80010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28" name="矩形 22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609725" y="3200400"/>
            <a:ext cx="800100" cy="800100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29" name="内容-S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609725" y="3200400"/>
            <a:ext cx="800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14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14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4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214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0" name="矩形 22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409825" y="3200400"/>
            <a:ext cx="800100" cy="80010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31" name="矩形 23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09625" y="4000500"/>
            <a:ext cx="8001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32" name="矩形 23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609725" y="4000500"/>
            <a:ext cx="800100" cy="80010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33" name="矩形 23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409825" y="4000500"/>
            <a:ext cx="8001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34" name="内容-4-邻接填充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28625" y="1666875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9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4-邻接填充</a:t>
            </a:r>
            <a:endParaRPr sz="1950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5" name="内容-上下左右都是边界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381000" y="5143500"/>
            <a:ext cx="333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80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上下左右都是边界</a:t>
            </a:r>
            <a:endParaRPr sz="1800" b="0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6" name="矩形 23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4714875" y="2400300"/>
            <a:ext cx="8001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5514975" y="2400300"/>
            <a:ext cx="800100" cy="80010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38" name="矩形 23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315075" y="2400300"/>
            <a:ext cx="800100" cy="800100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39" name="矩形 238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4714875" y="3200400"/>
            <a:ext cx="800100" cy="80010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5514975" y="3200400"/>
            <a:ext cx="800100" cy="800100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41" name="内容-S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5514975" y="3200400"/>
            <a:ext cx="800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14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14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4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214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2" name="矩形 241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6315075" y="3200400"/>
            <a:ext cx="800100" cy="80010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4714875" y="4000500"/>
            <a:ext cx="8001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44" name="矩形 243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5514975" y="4000500"/>
            <a:ext cx="800100" cy="80010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45" name="矩形 244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6315075" y="4000500"/>
            <a:ext cx="8001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46" name="内容-8-邻接填充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4333875" y="1666875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9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8-邻接填充</a:t>
            </a:r>
            <a:endParaRPr sz="1950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7" name="斜向漏色路径"/>
          <p:cNvSpPr>
            <a:spLocks noGrp="1"/>
          </p:cNvSpPr>
          <p:nvPr>
            <p:custDataLst>
              <p:tags r:id="rId24"/>
            </p:custDataLst>
          </p:nvPr>
        </p:nvSpPr>
        <p:spPr>
          <a:xfrm rot="18900000">
            <a:off x="5895975" y="3143250"/>
            <a:ext cx="838200" cy="133350"/>
          </a:xfrm>
          <a:prstGeom prst="rightArrow">
            <a:avLst/>
          </a:prstGeom>
          <a:solidFill>
            <a:srgbClr val="B3443E"/>
          </a:solidFill>
          <a:ln w="0">
            <a:noFill/>
            <a:prstDash val="solid"/>
          </a:ln>
        </p:spPr>
      </p:sp>
      <p:sp>
        <p:nvSpPr>
          <p:cNvPr id="248" name="内容-可以斜跳到白色外部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4286250" y="5143500"/>
            <a:ext cx="333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800" b="0">
                <a:solidFill>
                  <a:srgbClr val="B344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0">
                <a:solidFill>
                  <a:srgbClr val="B344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B344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可以斜跳到白色外部</a:t>
            </a:r>
            <a:endParaRPr sz="1800" b="0">
              <a:solidFill>
                <a:srgbClr val="B344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9" name="矩形 248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8620125" y="2400300"/>
            <a:ext cx="800100" cy="80010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50" name="矩形 249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9420225" y="2400300"/>
            <a:ext cx="800100" cy="80010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51" name="矩形 250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10220325" y="2400300"/>
            <a:ext cx="800100" cy="80010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52" name="矩形 251"/>
          <p:cNvSpPr>
            <a:spLocks noGrp="1"/>
          </p:cNvSpPr>
          <p:nvPr>
            <p:custDataLst>
              <p:tags r:id="rId29"/>
            </p:custDataLst>
          </p:nvPr>
        </p:nvSpPr>
        <p:spPr>
          <a:xfrm>
            <a:off x="8620125" y="3200400"/>
            <a:ext cx="800100" cy="80010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53" name="矩形 252"/>
          <p:cNvSpPr>
            <a:spLocks noGrp="1"/>
          </p:cNvSpPr>
          <p:nvPr>
            <p:custDataLst>
              <p:tags r:id="rId30"/>
            </p:custDataLst>
          </p:nvPr>
        </p:nvSpPr>
        <p:spPr>
          <a:xfrm>
            <a:off x="9420225" y="3200400"/>
            <a:ext cx="800100" cy="800100"/>
          </a:xfrm>
          <a:prstGeom prst="rect">
            <a:avLst/>
          </a:prstGeom>
          <a:solidFill>
            <a:srgbClr val="B8B1DF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54" name="内容-S"/>
          <p:cNvSpPr>
            <a:spLocks noGrp="1"/>
          </p:cNvSpPr>
          <p:nvPr>
            <p:custDataLst>
              <p:tags r:id="rId31"/>
            </p:custDataLst>
          </p:nvPr>
        </p:nvSpPr>
        <p:spPr>
          <a:xfrm>
            <a:off x="9420225" y="3200400"/>
            <a:ext cx="800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214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14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40" b="0">
                <a:solidFill>
                  <a:srgbClr val="202B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2140" b="0">
              <a:solidFill>
                <a:srgbClr val="202B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5" name="矩形 254"/>
          <p:cNvSpPr>
            <a:spLocks noGrp="1"/>
          </p:cNvSpPr>
          <p:nvPr>
            <p:custDataLst>
              <p:tags r:id="rId32"/>
            </p:custDataLst>
          </p:nvPr>
        </p:nvSpPr>
        <p:spPr>
          <a:xfrm>
            <a:off x="10220325" y="3200400"/>
            <a:ext cx="800100" cy="80010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56" name="矩形 255"/>
          <p:cNvSpPr>
            <a:spLocks noGrp="1"/>
          </p:cNvSpPr>
          <p:nvPr>
            <p:custDataLst>
              <p:tags r:id="rId33"/>
            </p:custDataLst>
          </p:nvPr>
        </p:nvSpPr>
        <p:spPr>
          <a:xfrm>
            <a:off x="8620125" y="4000500"/>
            <a:ext cx="800100" cy="80010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57" name="矩形 256"/>
          <p:cNvSpPr>
            <a:spLocks noGrp="1"/>
          </p:cNvSpPr>
          <p:nvPr>
            <p:custDataLst>
              <p:tags r:id="rId34"/>
            </p:custDataLst>
          </p:nvPr>
        </p:nvSpPr>
        <p:spPr>
          <a:xfrm>
            <a:off x="9420225" y="4000500"/>
            <a:ext cx="800100" cy="80010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58" name="矩形 257"/>
          <p:cNvSpPr>
            <a:spLocks noGrp="1"/>
          </p:cNvSpPr>
          <p:nvPr>
            <p:custDataLst>
              <p:tags r:id="rId35"/>
            </p:custDataLst>
          </p:nvPr>
        </p:nvSpPr>
        <p:spPr>
          <a:xfrm>
            <a:off x="10220325" y="4000500"/>
            <a:ext cx="800100" cy="800100"/>
          </a:xfrm>
          <a:prstGeom prst="rect">
            <a:avLst/>
          </a:prstGeom>
          <a:solidFill>
            <a:srgbClr val="F4AA55"/>
          </a:solidFill>
          <a:ln w="9525">
            <a:solidFill>
              <a:srgbClr val="A0A8B4"/>
            </a:solidFill>
            <a:prstDash val="solid"/>
          </a:ln>
        </p:spPr>
      </p:sp>
      <p:sp>
        <p:nvSpPr>
          <p:cNvPr id="259" name="内容-补齐角格后，8-填充"/>
          <p:cNvSpPr>
            <a:spLocks noGrp="1"/>
          </p:cNvSpPr>
          <p:nvPr>
            <p:custDataLst>
              <p:tags r:id="rId36"/>
            </p:custDataLst>
          </p:nvPr>
        </p:nvSpPr>
        <p:spPr>
          <a:xfrm>
            <a:off x="8239125" y="1666875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9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补齐角格后，8-填充</a:t>
            </a:r>
            <a:endParaRPr sz="1950" b="1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0" name="内容-八个方向都被挡住"/>
          <p:cNvSpPr>
            <a:spLocks noGrp="1"/>
          </p:cNvSpPr>
          <p:nvPr>
            <p:custDataLst>
              <p:tags r:id="rId37"/>
            </p:custDataLst>
          </p:nvPr>
        </p:nvSpPr>
        <p:spPr>
          <a:xfrm>
            <a:off x="8191500" y="5143500"/>
            <a:ext cx="333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80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645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八个方向都被挡住</a:t>
            </a:r>
            <a:endParaRPr sz="1800" b="0">
              <a:solidFill>
                <a:srgbClr val="1645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1" name="内容-橙色像素禁止进入；连通性与轮廓是"/>
          <p:cNvSpPr>
            <a:spLocks noGrp="1"/>
          </p:cNvSpPr>
          <p:nvPr/>
        </p:nvSpPr>
        <p:spPr>
          <a:xfrm>
            <a:off x="666750" y="5857875"/>
            <a:ext cx="1104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0">
                <a:solidFill>
                  <a:srgbClr val="5965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725" b="0">
              <a:solidFill>
                <a:srgbClr val="5965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乘号 1"/>
          <p:cNvSpPr/>
          <p:nvPr/>
        </p:nvSpPr>
        <p:spPr>
          <a:xfrm>
            <a:off x="6658610" y="2400300"/>
            <a:ext cx="456565" cy="46609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hape 3"/>
          <p:cNvSpPr/>
          <p:nvPr/>
        </p:nvSpPr>
        <p:spPr>
          <a:xfrm>
            <a:off x="285750" y="190500"/>
            <a:ext cx="11620500" cy="57150"/>
          </a:xfrm>
          <a:prstGeom prst="rect">
            <a:avLst/>
          </a:prstGeom>
          <a:solidFill>
            <a:srgbClr val="17468F"/>
          </a:solidFill>
          <a:ln w="9525">
            <a:noFill/>
          </a:ln>
        </p:spPr>
      </p:sp>
      <p:sp>
        <p:nvSpPr>
          <p:cNvPr id="4" name="Shape 4"/>
          <p:cNvSpPr/>
          <p:nvPr/>
        </p:nvSpPr>
        <p:spPr>
          <a:xfrm>
            <a:off x="400050" y="466725"/>
            <a:ext cx="11334750" cy="571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700" b="1">
                <a:solidFill>
                  <a:srgbClr val="1746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对角交点：两边都用相同规则，会怎样？</a:t>
            </a:r>
            <a:endParaRPr lang="zh-CN" sz="2700" b="1">
              <a:solidFill>
                <a:srgbClr val="1746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400050" y="1133475"/>
            <a:ext cx="11334750" cy="9525"/>
          </a:xfrm>
          <a:prstGeom prst="rect">
            <a:avLst/>
          </a:prstGeom>
          <a:solidFill>
            <a:srgbClr val="D9E2F0"/>
          </a:solidFill>
          <a:ln w="9525">
            <a:noFill/>
          </a:ln>
        </p:spPr>
      </p:sp>
      <p:sp>
        <p:nvSpPr>
          <p:cNvPr id="6" name="Shape 6"/>
          <p:cNvSpPr/>
          <p:nvPr/>
        </p:nvSpPr>
        <p:spPr>
          <a:xfrm>
            <a:off x="10953750" y="6477000"/>
            <a:ext cx="857250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 b="0">
                <a:solidFill>
                  <a:srgbClr val="A5A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15</a:t>
            </a:r>
            <a:endParaRPr lang="zh-CN" sz="1050" b="0">
              <a:solidFill>
                <a:srgbClr val="A5A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66750" y="1476375"/>
            <a:ext cx="495300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175" b="1">
                <a:solidFill>
                  <a:srgbClr val="1746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两边都用8邻接</a:t>
            </a:r>
            <a:endParaRPr lang="zh-CN" sz="2175" b="1">
              <a:solidFill>
                <a:srgbClr val="1746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6858000" y="1476375"/>
            <a:ext cx="476250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175" b="1">
                <a:solidFill>
                  <a:srgbClr val="1746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两边都用4邻接</a:t>
            </a:r>
            <a:endParaRPr lang="zh-CN" sz="2175" b="1">
              <a:solidFill>
                <a:srgbClr val="1746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1238250" y="2190750"/>
            <a:ext cx="904875" cy="904875"/>
          </a:xfrm>
          <a:prstGeom prst="rect">
            <a:avLst/>
          </a:prstGeom>
          <a:solidFill>
            <a:srgbClr val="B8B1DF"/>
          </a:solidFill>
          <a:ln w="9525">
            <a:solidFill>
              <a:srgbClr val="A5AFB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1238250" y="2326481"/>
            <a:ext cx="904875" cy="6334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320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lang="zh-CN" sz="320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2143125" y="2190750"/>
            <a:ext cx="904875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A5AFBF"/>
            </a:solidFill>
          </a:ln>
        </p:spPr>
      </p:sp>
      <p:sp>
        <p:nvSpPr>
          <p:cNvPr id="12" name="Shape 12"/>
          <p:cNvSpPr/>
          <p:nvPr/>
        </p:nvSpPr>
        <p:spPr>
          <a:xfrm>
            <a:off x="2143125" y="2326481"/>
            <a:ext cx="904875" cy="6334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320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lang="zh-CN" sz="320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1238250" y="3095625"/>
            <a:ext cx="904875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A5AFB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1238250" y="3231356"/>
            <a:ext cx="904875" cy="6334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320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lang="zh-CN" sz="320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2143125" y="3095625"/>
            <a:ext cx="904875" cy="904875"/>
          </a:xfrm>
          <a:prstGeom prst="rect">
            <a:avLst/>
          </a:prstGeom>
          <a:solidFill>
            <a:srgbClr val="B8B1DF"/>
          </a:solidFill>
          <a:ln w="9525">
            <a:solidFill>
              <a:srgbClr val="A5AFBF"/>
            </a:solidFill>
          </a:ln>
        </p:spPr>
      </p:sp>
      <p:sp>
        <p:nvSpPr>
          <p:cNvPr id="16" name="Shape 16"/>
          <p:cNvSpPr/>
          <p:nvPr/>
        </p:nvSpPr>
        <p:spPr>
          <a:xfrm>
            <a:off x="2143125" y="3231356"/>
            <a:ext cx="904875" cy="6334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320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lang="zh-CN" sz="320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hape 17"/>
          <p:cNvSpPr/>
          <p:nvPr/>
        </p:nvSpPr>
        <p:spPr>
          <a:xfrm rot="2700000">
            <a:off x="1503282" y="3071812"/>
            <a:ext cx="1279686" cy="47625"/>
          </a:xfrm>
          <a:prstGeom prst="rect">
            <a:avLst/>
          </a:prstGeom>
          <a:solidFill>
            <a:srgbClr val="7459AA"/>
          </a:solidFill>
          <a:ln w="9525">
            <a:noFill/>
          </a:ln>
        </p:spPr>
      </p:sp>
      <p:sp>
        <p:nvSpPr>
          <p:cNvPr id="18" name="Shape 18"/>
          <p:cNvSpPr/>
          <p:nvPr/>
        </p:nvSpPr>
        <p:spPr>
          <a:xfrm rot="8100000">
            <a:off x="1503282" y="3071812"/>
            <a:ext cx="1279686" cy="47625"/>
          </a:xfrm>
          <a:prstGeom prst="rect">
            <a:avLst/>
          </a:prstGeom>
          <a:solidFill>
            <a:srgbClr val="E58924"/>
          </a:solidFill>
          <a:ln w="9525">
            <a:noFill/>
          </a:ln>
        </p:spPr>
      </p:sp>
      <p:sp>
        <p:nvSpPr>
          <p:cNvPr id="19" name="Shape 19"/>
          <p:cNvSpPr/>
          <p:nvPr/>
        </p:nvSpPr>
        <p:spPr>
          <a:xfrm>
            <a:off x="7620000" y="2190750"/>
            <a:ext cx="904875" cy="904875"/>
          </a:xfrm>
          <a:prstGeom prst="rect">
            <a:avLst/>
          </a:prstGeom>
          <a:solidFill>
            <a:srgbClr val="B8B1DF"/>
          </a:solidFill>
          <a:ln w="9525">
            <a:solidFill>
              <a:srgbClr val="A5AFBF"/>
            </a:solidFill>
          </a:ln>
        </p:spPr>
      </p:sp>
      <p:sp>
        <p:nvSpPr>
          <p:cNvPr id="20" name="Shape 20"/>
          <p:cNvSpPr/>
          <p:nvPr/>
        </p:nvSpPr>
        <p:spPr>
          <a:xfrm>
            <a:off x="7620000" y="2326481"/>
            <a:ext cx="904875" cy="6334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320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lang="zh-CN" sz="320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8524875" y="2190750"/>
            <a:ext cx="904875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A5AFBF"/>
            </a:solidFill>
          </a:ln>
        </p:spPr>
      </p:sp>
      <p:sp>
        <p:nvSpPr>
          <p:cNvPr id="22" name="Shape 22"/>
          <p:cNvSpPr/>
          <p:nvPr/>
        </p:nvSpPr>
        <p:spPr>
          <a:xfrm>
            <a:off x="8524875" y="2326481"/>
            <a:ext cx="904875" cy="6334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320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lang="zh-CN" sz="320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7620000" y="3095625"/>
            <a:ext cx="904875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A5AFBF"/>
            </a:solidFill>
          </a:ln>
        </p:spPr>
      </p:sp>
      <p:sp>
        <p:nvSpPr>
          <p:cNvPr id="24" name="Shape 24"/>
          <p:cNvSpPr/>
          <p:nvPr/>
        </p:nvSpPr>
        <p:spPr>
          <a:xfrm>
            <a:off x="7620000" y="3231356"/>
            <a:ext cx="904875" cy="6334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320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lang="zh-CN" sz="320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8524875" y="3095625"/>
            <a:ext cx="904875" cy="904875"/>
          </a:xfrm>
          <a:prstGeom prst="rect">
            <a:avLst/>
          </a:prstGeom>
          <a:solidFill>
            <a:srgbClr val="B8B1DF"/>
          </a:solidFill>
          <a:ln w="9525">
            <a:solidFill>
              <a:srgbClr val="A5AFBF"/>
            </a:solidFill>
          </a:ln>
        </p:spPr>
      </p:sp>
      <p:sp>
        <p:nvSpPr>
          <p:cNvPr id="26" name="Shape 26"/>
          <p:cNvSpPr/>
          <p:nvPr/>
        </p:nvSpPr>
        <p:spPr>
          <a:xfrm>
            <a:off x="8524875" y="3231356"/>
            <a:ext cx="904875" cy="6334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320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lang="zh-CN" sz="320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666750" y="4381500"/>
            <a:ext cx="4435475" cy="112903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950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紫色 A—C 接通，白色 B—D 也接通。</a:t>
            </a:r>
            <a:endParaRPr lang="zh-CN" sz="1950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sz="1950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两条连接在交点相穿，</a:t>
            </a:r>
            <a:endParaRPr lang="zh-CN" sz="1950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sz="1950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不能表示互不穿透的平面两侧。</a:t>
            </a:r>
            <a:endParaRPr lang="zh-CN" sz="1950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6667500" y="4381500"/>
            <a:ext cx="4436110" cy="106743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950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紫色不跨角，白色也不跨角。</a:t>
            </a:r>
            <a:endParaRPr lang="zh-CN" sz="1950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sz="1950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若把紫色角点分开，白色应能通过；</a:t>
            </a:r>
            <a:endParaRPr lang="zh-CN" sz="1950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sz="1950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同时禁止两边，不符合这种平面解释。</a:t>
            </a:r>
            <a:endParaRPr lang="zh-CN" sz="1950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523875" y="6000750"/>
            <a:ext cx="11049000" cy="4095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75" b="1">
                <a:solidFill>
                  <a:srgbClr val="1746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目标：用互补的两类区域表达平面分离，交点只允许一方跨角接通。</a:t>
            </a:r>
            <a:endParaRPr lang="zh-CN" sz="1875" b="1">
              <a:solidFill>
                <a:srgbClr val="1746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87725" y="1684655"/>
            <a:ext cx="327977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在连续的二维平面上，前景和背景是互不重叠的两个互补区域，如果紫色连成了一道墙，白色就不可能穿墙而过；如果白色能穿过去，紫色墙就必然是断的。两条连接在交点处互相穿透，根本无法表示平面两侧互不穿透的分离关系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851390" y="2626360"/>
            <a:ext cx="20231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中心交点变成了谁也过不去的“死区”，同样不符合连续平面的分割解释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hape 3"/>
          <p:cNvSpPr/>
          <p:nvPr/>
        </p:nvSpPr>
        <p:spPr>
          <a:xfrm>
            <a:off x="285750" y="190500"/>
            <a:ext cx="11620500" cy="57150"/>
          </a:xfrm>
          <a:prstGeom prst="rect">
            <a:avLst/>
          </a:prstGeom>
          <a:solidFill>
            <a:srgbClr val="17468F"/>
          </a:solidFill>
          <a:ln w="9525">
            <a:noFill/>
          </a:ln>
        </p:spPr>
      </p:sp>
      <p:sp>
        <p:nvSpPr>
          <p:cNvPr id="4" name="Shape 4"/>
          <p:cNvSpPr/>
          <p:nvPr/>
        </p:nvSpPr>
        <p:spPr>
          <a:xfrm>
            <a:off x="400050" y="466725"/>
            <a:ext cx="11334750" cy="571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700" b="1">
                <a:solidFill>
                  <a:srgbClr val="1746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两种一致的处理，正好对应 4–8 配对</a:t>
            </a:r>
            <a:endParaRPr lang="zh-CN" sz="2700" b="1">
              <a:solidFill>
                <a:srgbClr val="1746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400050" y="1133475"/>
            <a:ext cx="11334750" cy="9525"/>
          </a:xfrm>
          <a:prstGeom prst="rect">
            <a:avLst/>
          </a:prstGeom>
          <a:solidFill>
            <a:srgbClr val="D9E2F0"/>
          </a:solidFill>
          <a:ln w="9525">
            <a:noFill/>
          </a:ln>
        </p:spPr>
      </p:sp>
      <p:sp>
        <p:nvSpPr>
          <p:cNvPr id="6" name="Shape 6"/>
          <p:cNvSpPr/>
          <p:nvPr/>
        </p:nvSpPr>
        <p:spPr>
          <a:xfrm>
            <a:off x="10953750" y="6477000"/>
            <a:ext cx="857250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 b="0">
                <a:solidFill>
                  <a:srgbClr val="A5A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15</a:t>
            </a:r>
            <a:endParaRPr lang="zh-CN" sz="1050" b="0">
              <a:solidFill>
                <a:srgbClr val="A5A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19125" y="1524000"/>
            <a:ext cx="504825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250" b="1">
                <a:solidFill>
                  <a:srgbClr val="1746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前景用4，背景用8</a:t>
            </a:r>
            <a:endParaRPr lang="zh-CN" sz="2250" b="1">
              <a:solidFill>
                <a:srgbClr val="1746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6858000" y="1524000"/>
            <a:ext cx="485775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250" b="1">
                <a:solidFill>
                  <a:srgbClr val="1746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前景用8，背景用4</a:t>
            </a:r>
            <a:endParaRPr lang="zh-CN" sz="2250" b="1">
              <a:solidFill>
                <a:srgbClr val="1746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1333500" y="2238375"/>
            <a:ext cx="904875" cy="904875"/>
          </a:xfrm>
          <a:prstGeom prst="rect">
            <a:avLst/>
          </a:prstGeom>
          <a:solidFill>
            <a:srgbClr val="B8B1DF"/>
          </a:solidFill>
          <a:ln w="9525">
            <a:solidFill>
              <a:srgbClr val="A5AFB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1333500" y="2374106"/>
            <a:ext cx="904875" cy="6334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320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lang="zh-CN" sz="320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2238375" y="2238375"/>
            <a:ext cx="904875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A5AFBF"/>
            </a:solidFill>
          </a:ln>
        </p:spPr>
      </p:sp>
      <p:sp>
        <p:nvSpPr>
          <p:cNvPr id="12" name="Shape 12"/>
          <p:cNvSpPr/>
          <p:nvPr/>
        </p:nvSpPr>
        <p:spPr>
          <a:xfrm>
            <a:off x="2238375" y="2374106"/>
            <a:ext cx="904875" cy="6334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320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lang="zh-CN" sz="320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1333500" y="3143250"/>
            <a:ext cx="904875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A5AFB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1333500" y="3278981"/>
            <a:ext cx="904875" cy="6334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320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lang="zh-CN" sz="320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2238375" y="3143250"/>
            <a:ext cx="904875" cy="904875"/>
          </a:xfrm>
          <a:prstGeom prst="rect">
            <a:avLst/>
          </a:prstGeom>
          <a:solidFill>
            <a:srgbClr val="B8B1DF"/>
          </a:solidFill>
          <a:ln w="9525">
            <a:solidFill>
              <a:srgbClr val="A5AFBF"/>
            </a:solidFill>
          </a:ln>
        </p:spPr>
      </p:sp>
      <p:sp>
        <p:nvSpPr>
          <p:cNvPr id="16" name="Shape 16"/>
          <p:cNvSpPr/>
          <p:nvPr/>
        </p:nvSpPr>
        <p:spPr>
          <a:xfrm>
            <a:off x="2238375" y="3278981"/>
            <a:ext cx="904875" cy="6334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320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lang="zh-CN" sz="320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hape 17"/>
          <p:cNvSpPr/>
          <p:nvPr/>
        </p:nvSpPr>
        <p:spPr>
          <a:xfrm rot="8100000">
            <a:off x="1598532" y="3119438"/>
            <a:ext cx="1279686" cy="47625"/>
          </a:xfrm>
          <a:prstGeom prst="rect">
            <a:avLst/>
          </a:prstGeom>
          <a:solidFill>
            <a:srgbClr val="E58924"/>
          </a:solidFill>
          <a:ln w="9525">
            <a:noFill/>
          </a:ln>
        </p:spPr>
      </p:sp>
      <p:sp>
        <p:nvSpPr>
          <p:cNvPr id="18" name="Shape 18"/>
          <p:cNvSpPr/>
          <p:nvPr/>
        </p:nvSpPr>
        <p:spPr>
          <a:xfrm>
            <a:off x="7715250" y="2238375"/>
            <a:ext cx="904875" cy="904875"/>
          </a:xfrm>
          <a:prstGeom prst="rect">
            <a:avLst/>
          </a:prstGeom>
          <a:solidFill>
            <a:srgbClr val="B8B1DF"/>
          </a:solidFill>
          <a:ln w="9525">
            <a:solidFill>
              <a:srgbClr val="A5AFBF"/>
            </a:solidFill>
          </a:ln>
        </p:spPr>
      </p:sp>
      <p:sp>
        <p:nvSpPr>
          <p:cNvPr id="19" name="Shape 19"/>
          <p:cNvSpPr/>
          <p:nvPr/>
        </p:nvSpPr>
        <p:spPr>
          <a:xfrm>
            <a:off x="7715250" y="2374106"/>
            <a:ext cx="904875" cy="6334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320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lang="zh-CN" sz="320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8620125" y="2238375"/>
            <a:ext cx="904875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A5AFBF"/>
            </a:solidFill>
          </a:ln>
        </p:spPr>
      </p:sp>
      <p:sp>
        <p:nvSpPr>
          <p:cNvPr id="21" name="Shape 21"/>
          <p:cNvSpPr/>
          <p:nvPr/>
        </p:nvSpPr>
        <p:spPr>
          <a:xfrm>
            <a:off x="8620125" y="2374106"/>
            <a:ext cx="904875" cy="6334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320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lang="zh-CN" sz="320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7715250" y="3143250"/>
            <a:ext cx="904875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A5AFBF"/>
            </a:solidFill>
          </a:ln>
        </p:spPr>
      </p:sp>
      <p:sp>
        <p:nvSpPr>
          <p:cNvPr id="23" name="Shape 23"/>
          <p:cNvSpPr/>
          <p:nvPr/>
        </p:nvSpPr>
        <p:spPr>
          <a:xfrm>
            <a:off x="7715250" y="3278981"/>
            <a:ext cx="904875" cy="6334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320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lang="zh-CN" sz="320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8620125" y="3143250"/>
            <a:ext cx="904875" cy="904875"/>
          </a:xfrm>
          <a:prstGeom prst="rect">
            <a:avLst/>
          </a:prstGeom>
          <a:solidFill>
            <a:srgbClr val="B8B1DF"/>
          </a:solidFill>
          <a:ln w="9525">
            <a:solidFill>
              <a:srgbClr val="A5AFBF"/>
            </a:solidFill>
          </a:ln>
        </p:spPr>
      </p:sp>
      <p:sp>
        <p:nvSpPr>
          <p:cNvPr id="25" name="Shape 25"/>
          <p:cNvSpPr/>
          <p:nvPr/>
        </p:nvSpPr>
        <p:spPr>
          <a:xfrm>
            <a:off x="8620125" y="3278981"/>
            <a:ext cx="904875" cy="6334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320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lang="zh-CN" sz="320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hape 26"/>
          <p:cNvSpPr/>
          <p:nvPr/>
        </p:nvSpPr>
        <p:spPr>
          <a:xfrm rot="2700000">
            <a:off x="7980282" y="3119438"/>
            <a:ext cx="1279686" cy="47625"/>
          </a:xfrm>
          <a:prstGeom prst="rect">
            <a:avLst/>
          </a:prstGeom>
          <a:solidFill>
            <a:srgbClr val="7459AA"/>
          </a:solidFill>
          <a:ln w="9525">
            <a:noFill/>
          </a:ln>
        </p:spPr>
      </p:sp>
      <p:sp>
        <p:nvSpPr>
          <p:cNvPr id="27" name="Shape 27"/>
          <p:cNvSpPr/>
          <p:nvPr/>
        </p:nvSpPr>
        <p:spPr>
          <a:xfrm>
            <a:off x="619125" y="4476750"/>
            <a:ext cx="5143500" cy="1047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100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前景对角不直接连接。</a:t>
            </a:r>
            <a:endParaRPr lang="zh-CN" sz="2100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sz="2100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背景可以从角点处接通。</a:t>
            </a:r>
            <a:endParaRPr lang="zh-CN" sz="2100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6858000" y="4476750"/>
            <a:ext cx="4857750" cy="1047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100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前景允许跨角连接。</a:t>
            </a:r>
            <a:endParaRPr lang="zh-CN" sz="2100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sz="2100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背景在该角点处分开。</a:t>
            </a:r>
            <a:endParaRPr lang="zh-CN" sz="2100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571500" y="5810250"/>
            <a:ext cx="10953750" cy="5238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100" b="1">
                <a:solidFill>
                  <a:srgbClr val="1746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交换前景与背景，规则也随之交换。这就是互补关系的来源。</a:t>
            </a:r>
            <a:endParaRPr lang="zh-CN" sz="2100" b="1">
              <a:solidFill>
                <a:srgbClr val="1746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hape 3"/>
          <p:cNvSpPr/>
          <p:nvPr/>
        </p:nvSpPr>
        <p:spPr>
          <a:xfrm>
            <a:off x="285750" y="190500"/>
            <a:ext cx="11620500" cy="57150"/>
          </a:xfrm>
          <a:prstGeom prst="rect">
            <a:avLst/>
          </a:prstGeom>
          <a:solidFill>
            <a:srgbClr val="17468F"/>
          </a:solidFill>
          <a:ln w="9525">
            <a:noFill/>
          </a:ln>
        </p:spPr>
      </p:sp>
      <p:sp>
        <p:nvSpPr>
          <p:cNvPr id="4" name="Shape 4"/>
          <p:cNvSpPr/>
          <p:nvPr/>
        </p:nvSpPr>
        <p:spPr>
          <a:xfrm>
            <a:off x="400050" y="466725"/>
            <a:ext cx="11334750" cy="571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700" b="1">
                <a:solidFill>
                  <a:srgbClr val="1746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为什么可以推广到整幅图？</a:t>
            </a:r>
            <a:endParaRPr lang="zh-CN" sz="2700" b="1">
              <a:solidFill>
                <a:srgbClr val="1746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400050" y="1133475"/>
            <a:ext cx="11334750" cy="9525"/>
          </a:xfrm>
          <a:prstGeom prst="rect">
            <a:avLst/>
          </a:prstGeom>
          <a:solidFill>
            <a:srgbClr val="D9E2F0"/>
          </a:solidFill>
          <a:ln w="9525">
            <a:noFill/>
          </a:ln>
        </p:spPr>
      </p:sp>
      <p:sp>
        <p:nvSpPr>
          <p:cNvPr id="6" name="Shape 6"/>
          <p:cNvSpPr/>
          <p:nvPr/>
        </p:nvSpPr>
        <p:spPr>
          <a:xfrm>
            <a:off x="10953750" y="6477000"/>
            <a:ext cx="857250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 b="0">
                <a:solidFill>
                  <a:srgbClr val="A5A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15</a:t>
            </a:r>
            <a:endParaRPr lang="zh-CN" sz="1050" b="0">
              <a:solidFill>
                <a:srgbClr val="A5A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523875" y="1428750"/>
            <a:ext cx="1095375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25" b="1">
                <a:solidFill>
                  <a:srgbClr val="1746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只有对角交替的四格配置，需要决定谁跨角连接</a:t>
            </a:r>
            <a:endParaRPr lang="zh-CN" sz="2025" b="1">
              <a:solidFill>
                <a:srgbClr val="1746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809625" y="2095500"/>
            <a:ext cx="457200" cy="457200"/>
          </a:xfrm>
          <a:prstGeom prst="rect">
            <a:avLst/>
          </a:prstGeom>
          <a:solidFill>
            <a:srgbClr val="B8B1DF"/>
          </a:solidFill>
          <a:ln w="9525">
            <a:solidFill>
              <a:srgbClr val="A5AFBF"/>
            </a:solidFill>
          </a:ln>
        </p:spPr>
      </p:sp>
      <p:sp>
        <p:nvSpPr>
          <p:cNvPr id="9" name="Shape 9"/>
          <p:cNvSpPr/>
          <p:nvPr/>
        </p:nvSpPr>
        <p:spPr>
          <a:xfrm>
            <a:off x="1266825" y="20955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5AFB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809625" y="25527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5AFB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1266825" y="25527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5AFBF"/>
            </a:solidFill>
          </a:ln>
        </p:spPr>
      </p:sp>
      <p:sp>
        <p:nvSpPr>
          <p:cNvPr id="12" name="Shape 12"/>
          <p:cNvSpPr/>
          <p:nvPr/>
        </p:nvSpPr>
        <p:spPr>
          <a:xfrm>
            <a:off x="695325" y="3143250"/>
            <a:ext cx="209550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2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1个前景</a:t>
            </a:r>
            <a:endParaRPr lang="zh-CN" sz="172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3619500" y="2095500"/>
            <a:ext cx="457200" cy="457200"/>
          </a:xfrm>
          <a:prstGeom prst="rect">
            <a:avLst/>
          </a:prstGeom>
          <a:solidFill>
            <a:srgbClr val="B8B1DF"/>
          </a:solidFill>
          <a:ln w="9525">
            <a:solidFill>
              <a:srgbClr val="A5AFB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076700" y="20955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5AFBF"/>
            </a:solidFill>
          </a:ln>
        </p:spPr>
      </p:sp>
      <p:sp>
        <p:nvSpPr>
          <p:cNvPr id="15" name="Shape 15"/>
          <p:cNvSpPr/>
          <p:nvPr/>
        </p:nvSpPr>
        <p:spPr>
          <a:xfrm>
            <a:off x="3619500" y="2552700"/>
            <a:ext cx="457200" cy="457200"/>
          </a:xfrm>
          <a:prstGeom prst="rect">
            <a:avLst/>
          </a:prstGeom>
          <a:solidFill>
            <a:srgbClr val="B8B1DF"/>
          </a:solidFill>
          <a:ln w="9525">
            <a:solidFill>
              <a:srgbClr val="A5AFBF"/>
            </a:solidFill>
          </a:ln>
        </p:spPr>
      </p:sp>
      <p:sp>
        <p:nvSpPr>
          <p:cNvPr id="16" name="Shape 16"/>
          <p:cNvSpPr/>
          <p:nvPr/>
        </p:nvSpPr>
        <p:spPr>
          <a:xfrm>
            <a:off x="4076700" y="25527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5AFBF"/>
            </a:solidFill>
          </a:ln>
        </p:spPr>
      </p:sp>
      <p:sp>
        <p:nvSpPr>
          <p:cNvPr id="17" name="Shape 17"/>
          <p:cNvSpPr/>
          <p:nvPr/>
        </p:nvSpPr>
        <p:spPr>
          <a:xfrm>
            <a:off x="3505200" y="3143250"/>
            <a:ext cx="209550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2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2个共边</a:t>
            </a:r>
            <a:endParaRPr lang="zh-CN" sz="172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6429375" y="2095500"/>
            <a:ext cx="457200" cy="457200"/>
          </a:xfrm>
          <a:prstGeom prst="rect">
            <a:avLst/>
          </a:prstGeom>
          <a:solidFill>
            <a:srgbClr val="B8B1DF"/>
          </a:solidFill>
          <a:ln w="9525">
            <a:solidFill>
              <a:srgbClr val="A5AFBF"/>
            </a:solidFill>
          </a:ln>
        </p:spPr>
      </p:sp>
      <p:sp>
        <p:nvSpPr>
          <p:cNvPr id="19" name="Shape 19"/>
          <p:cNvSpPr/>
          <p:nvPr/>
        </p:nvSpPr>
        <p:spPr>
          <a:xfrm>
            <a:off x="6886575" y="20955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5AFBF"/>
            </a:solidFill>
          </a:ln>
        </p:spPr>
      </p:sp>
      <p:sp>
        <p:nvSpPr>
          <p:cNvPr id="20" name="Shape 20"/>
          <p:cNvSpPr/>
          <p:nvPr/>
        </p:nvSpPr>
        <p:spPr>
          <a:xfrm>
            <a:off x="6429375" y="25527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5AFBF"/>
            </a:solidFill>
          </a:ln>
        </p:spPr>
      </p:sp>
      <p:sp>
        <p:nvSpPr>
          <p:cNvPr id="21" name="Shape 21"/>
          <p:cNvSpPr/>
          <p:nvPr/>
        </p:nvSpPr>
        <p:spPr>
          <a:xfrm>
            <a:off x="6886575" y="2552700"/>
            <a:ext cx="457200" cy="457200"/>
          </a:xfrm>
          <a:prstGeom prst="rect">
            <a:avLst/>
          </a:prstGeom>
          <a:solidFill>
            <a:srgbClr val="B8B1DF"/>
          </a:solidFill>
          <a:ln w="9525">
            <a:solidFill>
              <a:srgbClr val="A5AFBF"/>
            </a:solidFill>
          </a:ln>
        </p:spPr>
      </p:sp>
      <p:sp>
        <p:nvSpPr>
          <p:cNvPr id="22" name="Shape 22"/>
          <p:cNvSpPr/>
          <p:nvPr/>
        </p:nvSpPr>
        <p:spPr>
          <a:xfrm>
            <a:off x="6315075" y="3143250"/>
            <a:ext cx="209550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2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2个对角</a:t>
            </a:r>
            <a:endParaRPr lang="zh-CN" sz="172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9239250" y="2095500"/>
            <a:ext cx="457200" cy="457200"/>
          </a:xfrm>
          <a:prstGeom prst="rect">
            <a:avLst/>
          </a:prstGeom>
          <a:solidFill>
            <a:srgbClr val="B8B1DF"/>
          </a:solidFill>
          <a:ln w="9525">
            <a:solidFill>
              <a:srgbClr val="A5AFBF"/>
            </a:solidFill>
          </a:ln>
        </p:spPr>
      </p:sp>
      <p:sp>
        <p:nvSpPr>
          <p:cNvPr id="24" name="Shape 24"/>
          <p:cNvSpPr/>
          <p:nvPr/>
        </p:nvSpPr>
        <p:spPr>
          <a:xfrm>
            <a:off x="9696450" y="2095500"/>
            <a:ext cx="457200" cy="457200"/>
          </a:xfrm>
          <a:prstGeom prst="rect">
            <a:avLst/>
          </a:prstGeom>
          <a:solidFill>
            <a:srgbClr val="B8B1DF"/>
          </a:solidFill>
          <a:ln w="9525">
            <a:solidFill>
              <a:srgbClr val="A5AFBF"/>
            </a:solidFill>
          </a:ln>
        </p:spPr>
      </p:sp>
      <p:sp>
        <p:nvSpPr>
          <p:cNvPr id="25" name="Shape 25"/>
          <p:cNvSpPr/>
          <p:nvPr/>
        </p:nvSpPr>
        <p:spPr>
          <a:xfrm>
            <a:off x="9239250" y="2552700"/>
            <a:ext cx="457200" cy="457200"/>
          </a:xfrm>
          <a:prstGeom prst="rect">
            <a:avLst/>
          </a:prstGeom>
          <a:solidFill>
            <a:srgbClr val="B8B1DF"/>
          </a:solidFill>
          <a:ln w="9525">
            <a:solidFill>
              <a:srgbClr val="A5AFBF"/>
            </a:solidFill>
          </a:ln>
        </p:spPr>
      </p:sp>
      <p:sp>
        <p:nvSpPr>
          <p:cNvPr id="26" name="Shape 26"/>
          <p:cNvSpPr/>
          <p:nvPr/>
        </p:nvSpPr>
        <p:spPr>
          <a:xfrm>
            <a:off x="9696450" y="25527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5AFBF"/>
            </a:solidFill>
          </a:ln>
        </p:spPr>
      </p:sp>
      <p:sp>
        <p:nvSpPr>
          <p:cNvPr id="27" name="Shape 27"/>
          <p:cNvSpPr/>
          <p:nvPr/>
        </p:nvSpPr>
        <p:spPr>
          <a:xfrm>
            <a:off x="9124950" y="3143250"/>
            <a:ext cx="209550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2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3个前景</a:t>
            </a:r>
            <a:endParaRPr lang="zh-CN" sz="172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523875" y="3762375"/>
            <a:ext cx="109537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25" b="1">
                <a:solidFill>
                  <a:srgbClr val="1746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每个歧义交点都按同一互补规则处理</a:t>
            </a:r>
            <a:endParaRPr lang="zh-CN" sz="2025" b="1">
              <a:solidFill>
                <a:srgbClr val="1746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762000" y="4238625"/>
            <a:ext cx="10668000" cy="571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2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分界线在交点处能连续接续，不让两色通路相穿。</a:t>
            </a:r>
            <a:endParaRPr lang="zh-CN" sz="202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523875" y="5000625"/>
            <a:ext cx="1095375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025" b="1">
                <a:solidFill>
                  <a:srgbClr val="1746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全局分离由数字 Jordan 定理保证</a:t>
            </a:r>
            <a:endParaRPr lang="zh-CN" sz="2025" b="1">
              <a:solidFill>
                <a:srgbClr val="1746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Shape 31"/>
          <p:cNvSpPr/>
          <p:nvPr/>
        </p:nvSpPr>
        <p:spPr>
          <a:xfrm>
            <a:off x="762000" y="5476875"/>
            <a:ext cx="10668000" cy="6191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altLang="en-US" sz="187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引用平面分离性质（</a:t>
            </a:r>
            <a:r>
              <a:rPr lang="en-US" altLang="zh-CN" sz="187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Jordan </a:t>
            </a:r>
            <a:r>
              <a:rPr lang="zh-CN" altLang="en-US" sz="187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曲线定理）：如果存在两条分离的闭合交界线，它们就会像切蛋糕一样，把前景 </a:t>
            </a:r>
            <a:r>
              <a:rPr lang="en-US" altLang="zh-CN" sz="187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zh-CN" altLang="en-US" sz="187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或者背景分量 </a:t>
            </a:r>
            <a:r>
              <a:rPr lang="en-US" altLang="zh-CN" sz="187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D_j </a:t>
            </a:r>
            <a:r>
              <a:rPr lang="zh-CN" altLang="en-US" sz="187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分割成互不连通的两块，这与“</a:t>
            </a:r>
            <a:r>
              <a:rPr lang="en-US" altLang="zh-CN" sz="187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</a:t>
            </a:r>
            <a:r>
              <a:rPr lang="zh-CN" altLang="en-US" sz="187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是连通区域、</a:t>
            </a:r>
            <a:r>
              <a:rPr lang="en-US" altLang="zh-CN" sz="187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D_j </a:t>
            </a:r>
            <a:r>
              <a:rPr lang="zh-CN" altLang="en-US" sz="187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是单个连通背景分量”的前提直接矛盾，因此，</a:t>
            </a:r>
            <a:r>
              <a:rPr lang="en-US" altLang="zh-CN" sz="187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</a:t>
            </a:r>
            <a:r>
              <a:rPr lang="zh-CN" altLang="en-US" sz="187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 </a:t>
            </a:r>
            <a:r>
              <a:rPr lang="en-US" altLang="zh-CN" sz="187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D_j </a:t>
            </a:r>
            <a:r>
              <a:rPr lang="zh-CN" altLang="en-US" sz="1875" b="0">
                <a:solidFill>
                  <a:srgbClr val="2432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的交界必然属于唯一一条闭合轮廓</a:t>
            </a:r>
            <a:endParaRPr lang="zh-CN" altLang="en-US" sz="1875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4030" y="3625215"/>
            <a:ext cx="4067175" cy="160401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6886575" y="1106170"/>
            <a:ext cx="37414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</a:t>
            </a:r>
            <a:r>
              <a:rPr lang="en-US" altLang="zh-CN"/>
              <a:t>1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en-US"/>
              <a:t>这三种情况里，分界线的走向是完全唯一、没有任何拓扑歧义的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56260"/>
            <a:ext cx="12192000" cy="57448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hape 3"/>
          <p:cNvSpPr/>
          <p:nvPr/>
        </p:nvSpPr>
        <p:spPr>
          <a:xfrm>
            <a:off x="285750" y="190500"/>
            <a:ext cx="11620500" cy="57150"/>
          </a:xfrm>
          <a:prstGeom prst="rect">
            <a:avLst/>
          </a:prstGeom>
          <a:solidFill>
            <a:srgbClr val="17468F"/>
          </a:solidFill>
          <a:ln w="9525">
            <a:noFill/>
          </a:ln>
        </p:spPr>
      </p:sp>
      <p:sp>
        <p:nvSpPr>
          <p:cNvPr id="4" name="Shape 4"/>
          <p:cNvSpPr/>
          <p:nvPr/>
        </p:nvSpPr>
        <p:spPr>
          <a:xfrm>
            <a:off x="400050" y="466725"/>
            <a:ext cx="11334750" cy="571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700" b="1">
                <a:solidFill>
                  <a:srgbClr val="1746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结论：互补规则用来保持内外分离</a:t>
            </a:r>
            <a:endParaRPr lang="zh-CN" sz="2700" b="1">
              <a:solidFill>
                <a:srgbClr val="1746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400050" y="1133475"/>
            <a:ext cx="11334750" cy="9525"/>
          </a:xfrm>
          <a:prstGeom prst="rect">
            <a:avLst/>
          </a:prstGeom>
          <a:solidFill>
            <a:srgbClr val="D9E2F0"/>
          </a:solidFill>
          <a:ln w="9525">
            <a:noFill/>
          </a:ln>
        </p:spPr>
      </p:sp>
      <p:sp>
        <p:nvSpPr>
          <p:cNvPr id="6" name="Shape 6"/>
          <p:cNvSpPr/>
          <p:nvPr/>
        </p:nvSpPr>
        <p:spPr>
          <a:xfrm>
            <a:off x="10953750" y="6477000"/>
            <a:ext cx="857250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 b="0">
                <a:solidFill>
                  <a:srgbClr val="A5A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15</a:t>
            </a:r>
            <a:endParaRPr lang="zh-CN" sz="1050" b="0">
              <a:solidFill>
                <a:srgbClr val="A5A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19125" y="1857375"/>
            <a:ext cx="10953750" cy="571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175" b="1">
                <a:solidFill>
                  <a:srgbClr val="1746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前景采用4邻接，背景及相应边界采用8邻接。</a:t>
            </a:r>
            <a:endParaRPr lang="zh-CN" sz="2175" b="1">
              <a:solidFill>
                <a:srgbClr val="1746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sz="2175" b="1">
                <a:solidFill>
                  <a:srgbClr val="1746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前景采用8邻接，背景及相应边界采用4邻接。</a:t>
            </a:r>
            <a:endParaRPr lang="zh-CN" sz="2175" b="1">
              <a:solidFill>
                <a:srgbClr val="1746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571500" y="4261485"/>
            <a:ext cx="10953750" cy="4286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250" b="1">
                <a:solidFill>
                  <a:srgbClr val="1746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原因：在对角交点，让一方接通，另一方分开。</a:t>
            </a:r>
            <a:endParaRPr lang="zh-CN" sz="2250" b="1">
              <a:solidFill>
                <a:srgbClr val="1746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571500" y="3429000"/>
            <a:ext cx="10953750" cy="9525"/>
          </a:xfrm>
          <a:prstGeom prst="rect">
            <a:avLst/>
          </a:prstGeom>
          <a:solidFill>
            <a:srgbClr val="D9E2F0"/>
          </a:solidFill>
          <a:ln w="9525">
            <a:noFill/>
          </a:ln>
        </p:spPr>
      </p:sp>
      <p:sp>
        <p:nvSpPr>
          <p:cNvPr id="10" name="Shape 10"/>
          <p:cNvSpPr/>
          <p:nvPr/>
        </p:nvSpPr>
        <p:spPr>
          <a:xfrm>
            <a:off x="400050" y="4749800"/>
            <a:ext cx="10953750" cy="12382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endParaRPr lang="zh-CN" sz="1950" b="0">
              <a:solidFill>
                <a:srgbClr val="2432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571500" y="5429250"/>
            <a:ext cx="10953750" cy="571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endParaRPr lang="zh-CN" sz="1875" b="1">
              <a:solidFill>
                <a:srgbClr val="1746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571500" y="6286500"/>
            <a:ext cx="10668000" cy="2381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00" b="0">
                <a:solidFill>
                  <a:srgbClr val="A5A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1200" b="0">
              <a:solidFill>
                <a:srgbClr val="A5A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9.5,&quot;left&quot;:313.25,&quot;top&quot;:123,&quot;width&quot;:585.25}"/>
</p:tagLst>
</file>

<file path=ppt/tags/tag2.xml><?xml version="1.0" encoding="utf-8"?>
<p:tagLst xmlns:p="http://schemas.openxmlformats.org/presentationml/2006/main">
  <p:tag name="KSO_WM_DIAGRAM_VIRTUALLY_FRAME" val="{&quot;height&quot;:109.5,&quot;left&quot;:313.25,&quot;top&quot;:123,&quot;width&quot;:585.25}"/>
</p:tagLst>
</file>

<file path=ppt/tags/tag3.xml><?xml version="1.0" encoding="utf-8"?>
<p:tagLst xmlns:p="http://schemas.openxmlformats.org/presentationml/2006/main">
  <p:tag name="KSO_WM_DIAGRAM_VIRTUALLY_FRAME" val="{&quot;height&quot;:109.5,&quot;left&quot;:313.25,&quot;top&quot;:123,&quot;width&quot;:585.25}"/>
</p:tagLst>
</file>

<file path=ppt/tags/tag4.xml><?xml version="1.0" encoding="utf-8"?>
<p:tagLst xmlns:p="http://schemas.openxmlformats.org/presentationml/2006/main">
  <p:tag name="KSO_WM_DIAGRAM_VIRTUALLY_FRAME" val="{&quot;height&quot;:109.5,&quot;left&quot;:313.25,&quot;top&quot;:123,&quot;width&quot;:585.25}"/>
</p:tagLst>
</file>

<file path=ppt/tags/tag5.xml><?xml version="1.0" encoding="utf-8"?>
<p:tagLst xmlns:p="http://schemas.openxmlformats.org/presentationml/2006/main">
  <p:tag name="KSO_WM_DIAGRAM_VIRTUALLY_FRAME" val="{&quot;height&quot;:109.5,&quot;left&quot;:313.25,&quot;top&quot;:123,&quot;width&quot;:585.25}"/>
</p:tagLst>
</file>

<file path=ppt/tags/tag6.xml><?xml version="1.0" encoding="utf-8"?>
<p:tagLst xmlns:p="http://schemas.openxmlformats.org/presentationml/2006/main">
  <p:tag name="KSO_WM_DIAGRAM_VIRTUALLY_FRAME" val="{&quot;height&quot;:109.5,&quot;left&quot;:313.25,&quot;top&quot;:123,&quot;width&quot;:585.25}"/>
</p:tagLst>
</file>

<file path=ppt/tags/tag7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8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9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10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11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12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13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14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15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16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17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18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19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20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21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22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23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24.xml><?xml version="1.0" encoding="utf-8"?>
<p:tagLst xmlns:p="http://schemas.openxmlformats.org/presentationml/2006/main">
  <p:tag name="KSO_WM_DIAGRAM_VIRTUALLY_FRAME" val="{&quot;height&quot;:213,&quot;left&quot;:60,&quot;top&quot;:240.75,&quot;width&quot;:840}"/>
</p:tagLst>
</file>

<file path=ppt/tags/tag25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26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27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28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29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30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31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32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33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34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35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36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37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38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39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40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41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42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43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44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45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46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47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48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49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50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51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52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53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54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55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56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57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58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59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60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ags/tag61.xml><?xml version="1.0" encoding="utf-8"?>
<p:tagLst xmlns:p="http://schemas.openxmlformats.org/presentationml/2006/main">
  <p:tag name="KSO_WM_DIAGRAM_VIRTUALLY_FRAME" val="{&quot;height&quot;:307.5,&quot;left&quot;:30,&quot;top&quot;:131.25,&quot;width&quot;:877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2916</Words>
  <Application>WPS 演示</Application>
  <PresentationFormat>Converted Presentation</PresentationFormat>
  <Paragraphs>372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周禹驰</cp:lastModifiedBy>
  <cp:revision>7</cp:revision>
  <dcterms:created xsi:type="dcterms:W3CDTF">2026-10-14T18:44:00Z</dcterms:created>
  <dcterms:modified xsi:type="dcterms:W3CDTF">2026-10-15T05:12:06Z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E8B0DE67B393421F97A5584DCE60FD4D_12</vt:lpwstr>
  </property>
  <property fmtid="{D5CDD505-2E9C-101B-9397-08002B2CF9AE}" pid="3" name="KSOProductBuildVer">
    <vt:lpwstr>2052-12.1.0.29161</vt:lpwstr>
  </property>
</Properties>
</file>